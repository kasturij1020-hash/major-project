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884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3417" y="2175326"/>
            <a:ext cx="251301" cy="2513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9179" y="2442334"/>
            <a:ext cx="369098" cy="3848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21327" y="3137073"/>
            <a:ext cx="14321790" cy="2245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rgbClr val="05316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02343" y="5995624"/>
            <a:ext cx="12099413" cy="143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1346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5316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1346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884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5316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08396" y="3214950"/>
            <a:ext cx="8350884" cy="6169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01347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0193" y="3198589"/>
            <a:ext cx="8212455" cy="6186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33467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rgbClr val="05316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9773" y="672488"/>
            <a:ext cx="12185650" cy="9171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rgbClr val="05316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0422" y="3308534"/>
            <a:ext cx="13003254" cy="2275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1346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8530"/>
              </a:lnSpc>
              <a:spcBef>
                <a:spcPts val="100"/>
              </a:spcBef>
            </a:pPr>
            <a:r>
              <a:rPr dirty="0" sz="7600" spc="250">
                <a:solidFill>
                  <a:srgbClr val="003466"/>
                </a:solidFill>
                <a:latin typeface="Arial MT"/>
                <a:cs typeface="Arial MT"/>
              </a:rPr>
              <a:t>Cybersecurity</a:t>
            </a:r>
            <a:r>
              <a:rPr dirty="0" sz="7600" spc="330">
                <a:solidFill>
                  <a:srgbClr val="003466"/>
                </a:solidFill>
                <a:latin typeface="Arial MT"/>
                <a:cs typeface="Arial MT"/>
              </a:rPr>
              <a:t> </a:t>
            </a:r>
            <a:r>
              <a:rPr dirty="0" sz="7600" spc="110">
                <a:solidFill>
                  <a:srgbClr val="003367"/>
                </a:solidFill>
                <a:latin typeface="Arial MT"/>
                <a:cs typeface="Arial MT"/>
              </a:rPr>
              <a:t>Risk</a:t>
            </a:r>
            <a:r>
              <a:rPr dirty="0" sz="7600" spc="90">
                <a:solidFill>
                  <a:srgbClr val="003367"/>
                </a:solidFill>
                <a:latin typeface="Arial MT"/>
                <a:cs typeface="Arial MT"/>
              </a:rPr>
              <a:t> </a:t>
            </a:r>
            <a:r>
              <a:rPr dirty="0" sz="7600" spc="145">
                <a:solidFill>
                  <a:srgbClr val="003466"/>
                </a:solidFill>
                <a:latin typeface="Arial MT"/>
                <a:cs typeface="Arial MT"/>
              </a:rPr>
              <a:t>Assessment</a:t>
            </a:r>
            <a:endParaRPr sz="7600">
              <a:latin typeface="Arial MT"/>
              <a:cs typeface="Arial MT"/>
            </a:endParaRPr>
          </a:p>
          <a:p>
            <a:pPr algn="ctr" marL="41910">
              <a:lnSpc>
                <a:spcPts val="8950"/>
              </a:lnSpc>
            </a:pPr>
            <a:r>
              <a:rPr dirty="0" sz="7950" spc="75">
                <a:solidFill>
                  <a:srgbClr val="003462"/>
                </a:solidFill>
                <a:latin typeface="Arial MT"/>
                <a:cs typeface="Arial MT"/>
              </a:rPr>
              <a:t>Framework</a:t>
            </a:r>
            <a:endParaRPr sz="79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25395" marR="5080" indent="-2506980">
              <a:lnSpc>
                <a:spcPct val="125299"/>
              </a:lnSpc>
              <a:spcBef>
                <a:spcPts val="95"/>
              </a:spcBef>
            </a:pPr>
            <a:r>
              <a:rPr dirty="0" sz="3700" spc="-370">
                <a:solidFill>
                  <a:srgbClr val="525252"/>
                </a:solidFill>
              </a:rPr>
              <a:t>A</a:t>
            </a:r>
            <a:r>
              <a:rPr dirty="0" sz="3700" spc="-100">
                <a:solidFill>
                  <a:srgbClr val="525252"/>
                </a:solidFill>
              </a:rPr>
              <a:t> </a:t>
            </a:r>
            <a:r>
              <a:rPr dirty="0" sz="3700" spc="-185">
                <a:solidFill>
                  <a:srgbClr val="525252"/>
                </a:solidFill>
              </a:rPr>
              <a:t>Comprehensive</a:t>
            </a:r>
            <a:r>
              <a:rPr dirty="0" sz="3700" spc="-75">
                <a:solidFill>
                  <a:srgbClr val="525252"/>
                </a:solidFill>
              </a:rPr>
              <a:t> </a:t>
            </a:r>
            <a:r>
              <a:rPr dirty="0" sz="3700" spc="-100">
                <a:solidFill>
                  <a:srgbClr val="595959"/>
                </a:solidFill>
              </a:rPr>
              <a:t>Model</a:t>
            </a:r>
            <a:r>
              <a:rPr dirty="0" sz="3700" spc="-155">
                <a:solidFill>
                  <a:srgbClr val="595959"/>
                </a:solidFill>
              </a:rPr>
              <a:t> </a:t>
            </a:r>
            <a:r>
              <a:rPr dirty="0" sz="3700" spc="-10">
                <a:solidFill>
                  <a:srgbClr val="5D5D5D"/>
                </a:solidFill>
              </a:rPr>
              <a:t>for</a:t>
            </a:r>
            <a:r>
              <a:rPr dirty="0" sz="3700" spc="-245">
                <a:solidFill>
                  <a:srgbClr val="5D5D5D"/>
                </a:solidFill>
              </a:rPr>
              <a:t> </a:t>
            </a:r>
            <a:r>
              <a:rPr dirty="0" sz="3700" spc="-155">
                <a:solidFill>
                  <a:srgbClr val="565656"/>
                </a:solidFill>
              </a:rPr>
              <a:t>Evaluating</a:t>
            </a:r>
            <a:r>
              <a:rPr dirty="0" sz="3700" spc="-70">
                <a:solidFill>
                  <a:srgbClr val="565656"/>
                </a:solidFill>
              </a:rPr>
              <a:t> </a:t>
            </a:r>
            <a:r>
              <a:rPr dirty="0" sz="3700" spc="-254">
                <a:solidFill>
                  <a:srgbClr val="595959"/>
                </a:solidFill>
              </a:rPr>
              <a:t>and</a:t>
            </a:r>
            <a:r>
              <a:rPr dirty="0" sz="3700" spc="-40">
                <a:solidFill>
                  <a:srgbClr val="595959"/>
                </a:solidFill>
              </a:rPr>
              <a:t> </a:t>
            </a:r>
            <a:r>
              <a:rPr dirty="0" sz="3700" spc="-50">
                <a:solidFill>
                  <a:srgbClr val="5B5B5B"/>
                </a:solidFill>
              </a:rPr>
              <a:t>Mitigating</a:t>
            </a:r>
            <a:r>
              <a:rPr dirty="0" sz="3700" spc="-10">
                <a:solidFill>
                  <a:srgbClr val="5B5B5B"/>
                </a:solidFill>
              </a:rPr>
              <a:t> </a:t>
            </a:r>
            <a:r>
              <a:rPr dirty="0" sz="3700" spc="-229">
                <a:solidFill>
                  <a:srgbClr val="595959"/>
                </a:solidFill>
              </a:rPr>
              <a:t>Risks</a:t>
            </a:r>
            <a:r>
              <a:rPr dirty="0" sz="3700" spc="-25">
                <a:solidFill>
                  <a:srgbClr val="595959"/>
                </a:solidFill>
              </a:rPr>
              <a:t> </a:t>
            </a:r>
            <a:r>
              <a:rPr dirty="0" sz="3700" spc="-25">
                <a:solidFill>
                  <a:srgbClr val="606060"/>
                </a:solidFill>
              </a:rPr>
              <a:t>in </a:t>
            </a:r>
            <a:r>
              <a:rPr dirty="0" sz="3700" spc="-105">
                <a:solidFill>
                  <a:srgbClr val="575757"/>
                </a:solidFill>
              </a:rPr>
              <a:t>Small</a:t>
            </a:r>
            <a:r>
              <a:rPr dirty="0" sz="3700" spc="-155">
                <a:solidFill>
                  <a:srgbClr val="575757"/>
                </a:solidFill>
              </a:rPr>
              <a:t> </a:t>
            </a:r>
            <a:r>
              <a:rPr dirty="0" sz="3700" spc="-420">
                <a:solidFill>
                  <a:srgbClr val="5E5E5E"/>
                </a:solidFill>
              </a:rPr>
              <a:t>&amp;</a:t>
            </a:r>
            <a:r>
              <a:rPr dirty="0" sz="3700" spc="-185">
                <a:solidFill>
                  <a:srgbClr val="5E5E5E"/>
                </a:solidFill>
              </a:rPr>
              <a:t> </a:t>
            </a:r>
            <a:r>
              <a:rPr dirty="0" sz="3700" spc="-120">
                <a:solidFill>
                  <a:srgbClr val="565656"/>
                </a:solidFill>
              </a:rPr>
              <a:t>Medium</a:t>
            </a:r>
            <a:r>
              <a:rPr dirty="0" sz="3700" spc="-135">
                <a:solidFill>
                  <a:srgbClr val="565656"/>
                </a:solidFill>
              </a:rPr>
              <a:t> </a:t>
            </a:r>
            <a:r>
              <a:rPr dirty="0" sz="3700" spc="-155">
                <a:solidFill>
                  <a:srgbClr val="545454"/>
                </a:solidFill>
              </a:rPr>
              <a:t>Enterprises</a:t>
            </a:r>
            <a:r>
              <a:rPr dirty="0" sz="3700" spc="-55">
                <a:solidFill>
                  <a:srgbClr val="545454"/>
                </a:solidFill>
              </a:rPr>
              <a:t> </a:t>
            </a:r>
            <a:r>
              <a:rPr dirty="0" sz="3700" spc="-280">
                <a:solidFill>
                  <a:srgbClr val="595959"/>
                </a:solidFill>
              </a:rPr>
              <a:t>(SMEs)</a:t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0660" y="696702"/>
            <a:ext cx="11661140" cy="8896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80">
                <a:solidFill>
                  <a:srgbClr val="003464"/>
                </a:solidFill>
                <a:latin typeface="Arial MT"/>
                <a:cs typeface="Arial MT"/>
              </a:rPr>
              <a:t>@</a:t>
            </a:r>
            <a:r>
              <a:rPr dirty="0" spc="-425">
                <a:solidFill>
                  <a:srgbClr val="003464"/>
                </a:solidFill>
                <a:latin typeface="Arial MT"/>
                <a:cs typeface="Arial MT"/>
              </a:rPr>
              <a:t> </a:t>
            </a:r>
            <a:r>
              <a:rPr dirty="0" spc="-430">
                <a:solidFill>
                  <a:srgbClr val="003469"/>
                </a:solidFill>
                <a:latin typeface="Arial MT"/>
                <a:cs typeface="Arial MT"/>
              </a:rPr>
              <a:t>1.</a:t>
            </a:r>
            <a:r>
              <a:rPr dirty="0" spc="-165">
                <a:solidFill>
                  <a:srgbClr val="003469"/>
                </a:solidFill>
                <a:latin typeface="Arial MT"/>
                <a:cs typeface="Arial MT"/>
              </a:rPr>
              <a:t> </a:t>
            </a:r>
            <a:r>
              <a:rPr dirty="0" spc="225">
                <a:solidFill>
                  <a:srgbClr val="003462"/>
                </a:solidFill>
                <a:latin typeface="Arial MT"/>
                <a:cs typeface="Arial MT"/>
              </a:rPr>
              <a:t>Common</a:t>
            </a:r>
            <a:r>
              <a:rPr dirty="0" spc="200">
                <a:solidFill>
                  <a:srgbClr val="003462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53467"/>
                </a:solidFill>
                <a:latin typeface="Arial MT"/>
                <a:cs typeface="Arial MT"/>
              </a:rPr>
              <a:t>Cyber</a:t>
            </a:r>
            <a:r>
              <a:rPr dirty="0" spc="545">
                <a:solidFill>
                  <a:srgbClr val="053467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2F67"/>
                </a:solidFill>
                <a:latin typeface="Arial MT"/>
                <a:cs typeface="Arial MT"/>
              </a:rPr>
              <a:t>Risks</a:t>
            </a:r>
            <a:r>
              <a:rPr dirty="0" spc="30">
                <a:solidFill>
                  <a:srgbClr val="002F67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3467"/>
                </a:solidFill>
                <a:latin typeface="Arial MT"/>
                <a:cs typeface="Arial MT"/>
              </a:rPr>
              <a:t>in</a:t>
            </a:r>
            <a:r>
              <a:rPr dirty="0" spc="580">
                <a:solidFill>
                  <a:srgbClr val="003467"/>
                </a:solidFill>
                <a:latin typeface="Arial MT"/>
                <a:cs typeface="Arial MT"/>
              </a:rPr>
              <a:t> </a:t>
            </a:r>
            <a:r>
              <a:rPr dirty="0" spc="-140">
                <a:solidFill>
                  <a:srgbClr val="003469"/>
                </a:solidFill>
                <a:latin typeface="Arial MT"/>
                <a:cs typeface="Arial MT"/>
              </a:rPr>
              <a:t>SMEs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5761" y="3151470"/>
            <a:ext cx="3294379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85">
                <a:solidFill>
                  <a:srgbClr val="00346D"/>
                </a:solidFill>
                <a:latin typeface="Arial MT"/>
                <a:cs typeface="Arial MT"/>
              </a:rPr>
              <a:t>Phishing</a:t>
            </a:r>
            <a:r>
              <a:rPr dirty="0" sz="3200" spc="265">
                <a:solidFill>
                  <a:srgbClr val="00346D"/>
                </a:solidFill>
                <a:latin typeface="Arial MT"/>
                <a:cs typeface="Arial MT"/>
              </a:rPr>
              <a:t> </a:t>
            </a:r>
            <a:r>
              <a:rPr dirty="0" sz="3200" spc="120">
                <a:solidFill>
                  <a:srgbClr val="003A74"/>
                </a:solidFill>
                <a:latin typeface="Arial MT"/>
                <a:cs typeface="Arial MT"/>
              </a:rPr>
              <a:t>Attacks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35482" y="3889668"/>
            <a:ext cx="6263640" cy="153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6510" marR="5080" indent="-4445">
              <a:lnSpc>
                <a:spcPct val="134600"/>
              </a:lnSpc>
              <a:spcBef>
                <a:spcPts val="100"/>
              </a:spcBef>
            </a:pPr>
            <a:r>
              <a:rPr dirty="0" sz="2450">
                <a:solidFill>
                  <a:srgbClr val="545454"/>
                </a:solidFill>
                <a:latin typeface="Arial MT"/>
                <a:cs typeface="Arial MT"/>
              </a:rPr>
              <a:t>Deceptive</a:t>
            </a:r>
            <a:r>
              <a:rPr dirty="0" sz="2450" spc="20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D5D5D"/>
                </a:solidFill>
                <a:latin typeface="Arial MT"/>
                <a:cs typeface="Arial MT"/>
              </a:rPr>
              <a:t>emails</a:t>
            </a:r>
            <a:r>
              <a:rPr dirty="0" sz="2450" spc="6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B5B5B"/>
                </a:solidFill>
                <a:latin typeface="Arial MT"/>
                <a:cs typeface="Arial MT"/>
              </a:rPr>
              <a:t>aimed</a:t>
            </a:r>
            <a:r>
              <a:rPr dirty="0" sz="2450" spc="5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D5D5D"/>
                </a:solidFill>
                <a:latin typeface="Arial MT"/>
                <a:cs typeface="Arial MT"/>
              </a:rPr>
              <a:t>at</a:t>
            </a:r>
            <a:r>
              <a:rPr dirty="0" sz="2450" spc="13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B5B5B"/>
                </a:solidFill>
                <a:latin typeface="Arial MT"/>
                <a:cs typeface="Arial MT"/>
              </a:rPr>
              <a:t>stealing</a:t>
            </a:r>
            <a:r>
              <a:rPr dirty="0" sz="2450" spc="11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575757"/>
                </a:solidFill>
                <a:latin typeface="Arial MT"/>
                <a:cs typeface="Arial MT"/>
              </a:rPr>
              <a:t>sensitive </a:t>
            </a:r>
            <a:r>
              <a:rPr dirty="0" sz="2450">
                <a:solidFill>
                  <a:srgbClr val="5B5B5B"/>
                </a:solidFill>
                <a:latin typeface="Arial MT"/>
                <a:cs typeface="Arial MT"/>
              </a:rPr>
              <a:t>credentials.</a:t>
            </a:r>
            <a:r>
              <a:rPr dirty="0" sz="2450" spc="5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450" spc="-95">
                <a:solidFill>
                  <a:srgbClr val="575757"/>
                </a:solidFill>
                <a:latin typeface="Arial MT"/>
                <a:cs typeface="Arial MT"/>
              </a:rPr>
              <a:t>SMEs</a:t>
            </a:r>
            <a:r>
              <a:rPr dirty="0" sz="2450" spc="-3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595959"/>
                </a:solidFill>
                <a:latin typeface="Arial MT"/>
                <a:cs typeface="Arial MT"/>
              </a:rPr>
              <a:t>often</a:t>
            </a:r>
            <a:r>
              <a:rPr dirty="0" sz="2450" spc="-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65656"/>
                </a:solidFill>
                <a:latin typeface="Arial MT"/>
                <a:cs typeface="Arial MT"/>
              </a:rPr>
              <a:t>lack</a:t>
            </a:r>
            <a:r>
              <a:rPr dirty="0" sz="2450" spc="-5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595959"/>
                </a:solidFill>
                <a:latin typeface="Arial MT"/>
                <a:cs typeface="Arial MT"/>
              </a:rPr>
              <a:t>advanced</a:t>
            </a:r>
            <a:r>
              <a:rPr dirty="0" sz="2450" spc="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5B5B5B"/>
                </a:solidFill>
                <a:latin typeface="Arial MT"/>
                <a:cs typeface="Arial MT"/>
              </a:rPr>
              <a:t>email </a:t>
            </a:r>
            <a:r>
              <a:rPr dirty="0" sz="2450">
                <a:solidFill>
                  <a:srgbClr val="575757"/>
                </a:solidFill>
                <a:latin typeface="Arial MT"/>
                <a:cs typeface="Arial MT"/>
              </a:rPr>
              <a:t>filtering,</a:t>
            </a:r>
            <a:r>
              <a:rPr dirty="0" sz="2450" spc="8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65656"/>
                </a:solidFill>
                <a:latin typeface="Arial MT"/>
                <a:cs typeface="Arial MT"/>
              </a:rPr>
              <a:t>making</a:t>
            </a:r>
            <a:r>
              <a:rPr dirty="0" sz="2450" spc="5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595959"/>
                </a:solidFill>
                <a:latin typeface="Arial MT"/>
                <a:cs typeface="Arial MT"/>
              </a:rPr>
              <a:t>them</a:t>
            </a:r>
            <a:r>
              <a:rPr dirty="0" sz="2450" spc="1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95959"/>
                </a:solidFill>
                <a:latin typeface="Arial MT"/>
                <a:cs typeface="Arial MT"/>
              </a:rPr>
              <a:t>prime</a:t>
            </a:r>
            <a:r>
              <a:rPr dirty="0" sz="2450" spc="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595959"/>
                </a:solidFill>
                <a:latin typeface="Arial MT"/>
                <a:cs typeface="Arial MT"/>
              </a:rPr>
              <a:t>targets.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29172" y="7156584"/>
            <a:ext cx="289433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65">
                <a:solidFill>
                  <a:srgbClr val="002F6E"/>
                </a:solidFill>
                <a:latin typeface="Arial MT"/>
                <a:cs typeface="Arial MT"/>
              </a:rPr>
              <a:t>Insider</a:t>
            </a:r>
            <a:r>
              <a:rPr dirty="0" sz="3200" spc="210">
                <a:solidFill>
                  <a:srgbClr val="002F6E"/>
                </a:solidFill>
                <a:latin typeface="Arial MT"/>
                <a:cs typeface="Arial MT"/>
              </a:rPr>
              <a:t> </a:t>
            </a:r>
            <a:r>
              <a:rPr dirty="0" sz="3200" spc="50">
                <a:solidFill>
                  <a:srgbClr val="013B70"/>
                </a:solidFill>
                <a:latin typeface="Arial MT"/>
                <a:cs typeface="Arial MT"/>
              </a:rPr>
              <a:t>Threats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12060" y="7479218"/>
            <a:ext cx="23495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495" i="1">
                <a:solidFill>
                  <a:srgbClr val="033162"/>
                </a:solidFill>
                <a:latin typeface="Arial"/>
                <a:cs typeface="Arial"/>
              </a:rPr>
              <a:t>B</a:t>
            </a:r>
            <a:endParaRPr sz="3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219986" y="7479218"/>
            <a:ext cx="13589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-175" i="1">
                <a:solidFill>
                  <a:srgbClr val="003677"/>
                </a:solidFill>
                <a:latin typeface="Arial"/>
                <a:cs typeface="Arial"/>
              </a:rPr>
              <a:t>•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33744" y="7898053"/>
            <a:ext cx="5946775" cy="153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6510" marR="5080" indent="-4445">
              <a:lnSpc>
                <a:spcPct val="129299"/>
              </a:lnSpc>
              <a:spcBef>
                <a:spcPts val="95"/>
              </a:spcBef>
            </a:pPr>
            <a:r>
              <a:rPr dirty="0" sz="2550" spc="-75">
                <a:solidFill>
                  <a:srgbClr val="565656"/>
                </a:solidFill>
                <a:latin typeface="Arial MT"/>
                <a:cs typeface="Arial MT"/>
              </a:rPr>
              <a:t>Risks</a:t>
            </a:r>
            <a:r>
              <a:rPr dirty="0" sz="2550" spc="-114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originating</a:t>
            </a:r>
            <a:r>
              <a:rPr dirty="0" sz="2550" spc="-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75757"/>
                </a:solidFill>
                <a:latin typeface="Arial MT"/>
                <a:cs typeface="Arial MT"/>
              </a:rPr>
              <a:t>from</a:t>
            </a:r>
            <a:r>
              <a:rPr dirty="0" sz="2550" spc="-8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 spc="-55">
                <a:solidFill>
                  <a:srgbClr val="5B5B5B"/>
                </a:solidFill>
                <a:latin typeface="Arial MT"/>
                <a:cs typeface="Arial MT"/>
              </a:rPr>
              <a:t>employees,</a:t>
            </a:r>
            <a:r>
              <a:rPr dirty="0" sz="2550" spc="2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575757"/>
                </a:solidFill>
                <a:latin typeface="Arial MT"/>
                <a:cs typeface="Arial MT"/>
              </a:rPr>
              <a:t>whether </a:t>
            </a:r>
            <a:r>
              <a:rPr dirty="0" sz="2550">
                <a:solidFill>
                  <a:srgbClr val="545454"/>
                </a:solidFill>
                <a:latin typeface="Arial MT"/>
                <a:cs typeface="Arial MT"/>
              </a:rPr>
              <a:t>malicious</a:t>
            </a:r>
            <a:r>
              <a:rPr dirty="0" sz="2550" spc="-13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45454"/>
                </a:solidFill>
                <a:latin typeface="Arial MT"/>
                <a:cs typeface="Arial MT"/>
              </a:rPr>
              <a:t>or</a:t>
            </a:r>
            <a:r>
              <a:rPr dirty="0" sz="2550" spc="-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 spc="-95">
                <a:solidFill>
                  <a:srgbClr val="5E5E5E"/>
                </a:solidFill>
                <a:latin typeface="Arial MT"/>
                <a:cs typeface="Arial MT"/>
              </a:rPr>
              <a:t>due</a:t>
            </a:r>
            <a:r>
              <a:rPr dirty="0" sz="2550" spc="-8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545454"/>
                </a:solidFill>
                <a:latin typeface="Arial MT"/>
                <a:cs typeface="Arial MT"/>
              </a:rPr>
              <a:t>to</a:t>
            </a:r>
            <a:r>
              <a:rPr dirty="0" sz="2550" spc="-18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545454"/>
                </a:solidFill>
                <a:latin typeface="Arial MT"/>
                <a:cs typeface="Arial MT"/>
              </a:rPr>
              <a:t>negligence</a:t>
            </a:r>
            <a:r>
              <a:rPr dirty="0" sz="2550" spc="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 spc="-95">
                <a:solidFill>
                  <a:srgbClr val="5B5B5B"/>
                </a:solidFill>
                <a:latin typeface="Arial MT"/>
                <a:cs typeface="Arial MT"/>
              </a:rPr>
              <a:t>(e.g.,</a:t>
            </a:r>
            <a:r>
              <a:rPr dirty="0" sz="2550" spc="-8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595959"/>
                </a:solidFill>
                <a:latin typeface="Arial MT"/>
                <a:cs typeface="Arial MT"/>
              </a:rPr>
              <a:t>weak </a:t>
            </a:r>
            <a:r>
              <a:rPr dirty="0" sz="2550" spc="-60">
                <a:solidFill>
                  <a:srgbClr val="505050"/>
                </a:solidFill>
                <a:latin typeface="Arial MT"/>
                <a:cs typeface="Arial MT"/>
              </a:rPr>
              <a:t>passwords,</a:t>
            </a:r>
            <a:r>
              <a:rPr dirty="0" sz="2550" spc="-5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75757"/>
                </a:solidFill>
                <a:latin typeface="Arial MT"/>
                <a:cs typeface="Arial MT"/>
              </a:rPr>
              <a:t>accidental</a:t>
            </a:r>
            <a:r>
              <a:rPr dirty="0" sz="2550" spc="-7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75757"/>
                </a:solidFill>
                <a:latin typeface="Arial MT"/>
                <a:cs typeface="Arial MT"/>
              </a:rPr>
              <a:t>data</a:t>
            </a:r>
            <a:r>
              <a:rPr dirty="0" sz="2550" spc="-15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95959"/>
                </a:solidFill>
                <a:latin typeface="Arial MT"/>
                <a:cs typeface="Arial MT"/>
              </a:rPr>
              <a:t>sharing).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080434" y="3151470"/>
            <a:ext cx="253111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60">
                <a:solidFill>
                  <a:srgbClr val="002F64"/>
                </a:solidFill>
                <a:latin typeface="Arial MT"/>
                <a:cs typeface="Arial MT"/>
              </a:rPr>
              <a:t>Ransomware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080450" y="3892940"/>
            <a:ext cx="6237605" cy="153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 marR="5080" indent="-3175">
              <a:lnSpc>
                <a:spcPct val="129299"/>
              </a:lnSpc>
              <a:spcBef>
                <a:spcPts val="95"/>
              </a:spcBef>
            </a:pPr>
            <a:r>
              <a:rPr dirty="0" sz="2550" spc="-10">
                <a:solidFill>
                  <a:srgbClr val="5D5D5D"/>
                </a:solidFill>
                <a:latin typeface="Arial MT"/>
                <a:cs typeface="Arial MT"/>
              </a:rPr>
              <a:t>Malicious</a:t>
            </a:r>
            <a:r>
              <a:rPr dirty="0" sz="2550" spc="5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B5B5B"/>
                </a:solidFill>
                <a:latin typeface="Arial MT"/>
                <a:cs typeface="Arial MT"/>
              </a:rPr>
              <a:t>software</a:t>
            </a:r>
            <a:r>
              <a:rPr dirty="0" sz="2550" spc="-4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65656"/>
                </a:solidFill>
                <a:latin typeface="Arial MT"/>
                <a:cs typeface="Arial MT"/>
              </a:rPr>
              <a:t>that</a:t>
            </a:r>
            <a:r>
              <a:rPr dirty="0" sz="2550" spc="4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595959"/>
                </a:solidFill>
                <a:latin typeface="Arial MT"/>
                <a:cs typeface="Arial MT"/>
              </a:rPr>
              <a:t>encrypts</a:t>
            </a:r>
            <a:r>
              <a:rPr dirty="0" sz="255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B5B5B"/>
                </a:solidFill>
                <a:latin typeface="Arial MT"/>
                <a:cs typeface="Arial MT"/>
              </a:rPr>
              <a:t>data</a:t>
            </a:r>
            <a:r>
              <a:rPr dirty="0" sz="2550" spc="-114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75757"/>
                </a:solidFill>
                <a:latin typeface="Arial MT"/>
                <a:cs typeface="Arial MT"/>
              </a:rPr>
              <a:t>until</a:t>
            </a:r>
            <a:r>
              <a:rPr dirty="0" sz="2550" spc="-6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 spc="-50">
                <a:solidFill>
                  <a:srgbClr val="626262"/>
                </a:solidFill>
                <a:latin typeface="Arial MT"/>
                <a:cs typeface="Arial MT"/>
              </a:rPr>
              <a:t>a </a:t>
            </a:r>
            <a:r>
              <a:rPr dirty="0" sz="2550" spc="-10">
                <a:solidFill>
                  <a:srgbClr val="5E5E5E"/>
                </a:solidFill>
                <a:latin typeface="Arial MT"/>
                <a:cs typeface="Arial MT"/>
              </a:rPr>
              <a:t>ransom</a:t>
            </a:r>
            <a:r>
              <a:rPr dirty="0" sz="2550" spc="-6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626262"/>
                </a:solidFill>
                <a:latin typeface="Arial MT"/>
                <a:cs typeface="Arial MT"/>
              </a:rPr>
              <a:t>is</a:t>
            </a:r>
            <a:r>
              <a:rPr dirty="0" sz="2550" spc="-18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565656"/>
                </a:solidFill>
                <a:latin typeface="Arial MT"/>
                <a:cs typeface="Arial MT"/>
              </a:rPr>
              <a:t>paid.</a:t>
            </a:r>
            <a:r>
              <a:rPr dirty="0" sz="2550" spc="-10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B5B5B"/>
                </a:solidFill>
                <a:latin typeface="Arial MT"/>
                <a:cs typeface="Arial MT"/>
              </a:rPr>
              <a:t>Critical</a:t>
            </a:r>
            <a:r>
              <a:rPr dirty="0" sz="2550" spc="-2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255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550" spc="-190">
                <a:solidFill>
                  <a:srgbClr val="525252"/>
                </a:solidFill>
                <a:latin typeface="Arial MT"/>
                <a:cs typeface="Arial MT"/>
              </a:rPr>
              <a:t>SMEs</a:t>
            </a:r>
            <a:r>
              <a:rPr dirty="0" sz="2550" spc="1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95959"/>
                </a:solidFill>
                <a:latin typeface="Arial MT"/>
                <a:cs typeface="Arial MT"/>
              </a:rPr>
              <a:t>without </a:t>
            </a:r>
            <a:r>
              <a:rPr dirty="0" sz="2550">
                <a:solidFill>
                  <a:srgbClr val="595959"/>
                </a:solidFill>
                <a:latin typeface="Arial MT"/>
                <a:cs typeface="Arial MT"/>
              </a:rPr>
              <a:t>robust</a:t>
            </a:r>
            <a:r>
              <a:rPr dirty="0" sz="255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95959"/>
                </a:solidFill>
                <a:latin typeface="Arial MT"/>
                <a:cs typeface="Arial MT"/>
              </a:rPr>
              <a:t>off-site</a:t>
            </a:r>
            <a:r>
              <a:rPr dirty="0" sz="255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45454"/>
                </a:solidFill>
                <a:latin typeface="Arial MT"/>
                <a:cs typeface="Arial MT"/>
              </a:rPr>
              <a:t>backups.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080434" y="7156584"/>
            <a:ext cx="406654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80">
                <a:solidFill>
                  <a:srgbClr val="00346D"/>
                </a:solidFill>
                <a:latin typeface="Arial MT"/>
                <a:cs typeface="Arial MT"/>
              </a:rPr>
              <a:t>Unsecured</a:t>
            </a:r>
            <a:r>
              <a:rPr dirty="0" sz="3200" spc="90">
                <a:solidFill>
                  <a:srgbClr val="00346D"/>
                </a:solidFill>
                <a:latin typeface="Arial MT"/>
                <a:cs typeface="Arial MT"/>
              </a:rPr>
              <a:t> </a:t>
            </a:r>
            <a:r>
              <a:rPr dirty="0" sz="3200" spc="120">
                <a:solidFill>
                  <a:srgbClr val="033170"/>
                </a:solidFill>
                <a:latin typeface="Arial MT"/>
                <a:cs typeface="Arial MT"/>
              </a:rPr>
              <a:t>Networks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079013" y="7898053"/>
            <a:ext cx="6168390" cy="153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9050" marR="5080" indent="-6985">
              <a:lnSpc>
                <a:spcPct val="129299"/>
              </a:lnSpc>
              <a:spcBef>
                <a:spcPts val="95"/>
              </a:spcBef>
            </a:pPr>
            <a:r>
              <a:rPr dirty="0" sz="2550" spc="-100">
                <a:solidFill>
                  <a:srgbClr val="565656"/>
                </a:solidFill>
                <a:latin typeface="Arial MT"/>
                <a:cs typeface="Arial MT"/>
              </a:rPr>
              <a:t>Use</a:t>
            </a:r>
            <a:r>
              <a:rPr dirty="0" sz="2550" spc="-7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75757"/>
                </a:solidFill>
                <a:latin typeface="Arial MT"/>
                <a:cs typeface="Arial MT"/>
              </a:rPr>
              <a:t>of</a:t>
            </a:r>
            <a:r>
              <a:rPr dirty="0" sz="2550" spc="-8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B5B5B"/>
                </a:solidFill>
                <a:latin typeface="Arial MT"/>
                <a:cs typeface="Arial MT"/>
              </a:rPr>
              <a:t>default</a:t>
            </a:r>
            <a:r>
              <a:rPr dirty="0" sz="2550" spc="2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626262"/>
                </a:solidFill>
                <a:latin typeface="Arial MT"/>
                <a:cs typeface="Arial MT"/>
              </a:rPr>
              <a:t>router</a:t>
            </a:r>
            <a:r>
              <a:rPr dirty="0" sz="2550" spc="-2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65656"/>
                </a:solidFill>
                <a:latin typeface="Arial MT"/>
                <a:cs typeface="Arial MT"/>
              </a:rPr>
              <a:t>settings</a:t>
            </a:r>
            <a:r>
              <a:rPr dirty="0" sz="2550" spc="-5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E5E5E"/>
                </a:solidFill>
                <a:latin typeface="Arial MT"/>
                <a:cs typeface="Arial MT"/>
              </a:rPr>
              <a:t>or</a:t>
            </a:r>
            <a:r>
              <a:rPr dirty="0" sz="2550" spc="-80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45454"/>
                </a:solidFill>
                <a:latin typeface="Arial MT"/>
                <a:cs typeface="Arial MT"/>
              </a:rPr>
              <a:t>public</a:t>
            </a:r>
            <a:r>
              <a:rPr dirty="0" sz="2550" spc="-7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 spc="-140">
                <a:solidFill>
                  <a:srgbClr val="5D5D5D"/>
                </a:solidFill>
                <a:latin typeface="Arial MT"/>
                <a:cs typeface="Arial MT"/>
              </a:rPr>
              <a:t>Wi-</a:t>
            </a:r>
            <a:r>
              <a:rPr dirty="0" sz="2550" spc="-45">
                <a:solidFill>
                  <a:srgbClr val="5D5D5D"/>
                </a:solidFill>
                <a:latin typeface="Arial MT"/>
                <a:cs typeface="Arial MT"/>
              </a:rPr>
              <a:t>Fi </a:t>
            </a:r>
            <a:r>
              <a:rPr dirty="0" sz="2550">
                <a:solidFill>
                  <a:srgbClr val="575757"/>
                </a:solidFill>
                <a:latin typeface="Arial MT"/>
                <a:cs typeface="Arial MT"/>
              </a:rPr>
              <a:t>for</a:t>
            </a:r>
            <a:r>
              <a:rPr dirty="0" sz="2550" spc="-4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545454"/>
                </a:solidFill>
                <a:latin typeface="Arial MT"/>
                <a:cs typeface="Arial MT"/>
              </a:rPr>
              <a:t>business</a:t>
            </a:r>
            <a:r>
              <a:rPr dirty="0" sz="2550" spc="1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565656"/>
                </a:solidFill>
                <a:latin typeface="Arial MT"/>
                <a:cs typeface="Arial MT"/>
              </a:rPr>
              <a:t>operations,</a:t>
            </a:r>
            <a:r>
              <a:rPr dirty="0" sz="2550" spc="-7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5B5B5B"/>
                </a:solidFill>
                <a:latin typeface="Arial MT"/>
                <a:cs typeface="Arial MT"/>
              </a:rPr>
              <a:t>leading</a:t>
            </a:r>
            <a:r>
              <a:rPr dirty="0" sz="2550" spc="-12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575757"/>
                </a:solidFill>
                <a:latin typeface="Arial MT"/>
                <a:cs typeface="Arial MT"/>
              </a:rPr>
              <a:t>to</a:t>
            </a:r>
            <a:r>
              <a:rPr dirty="0" sz="2550" spc="-17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565656"/>
                </a:solidFill>
                <a:latin typeface="Arial MT"/>
                <a:cs typeface="Arial MT"/>
              </a:rPr>
              <a:t>potential </a:t>
            </a:r>
            <a:r>
              <a:rPr dirty="0" sz="2550">
                <a:solidFill>
                  <a:srgbClr val="505050"/>
                </a:solidFill>
                <a:latin typeface="Arial MT"/>
                <a:cs typeface="Arial MT"/>
              </a:rPr>
              <a:t>data</a:t>
            </a:r>
            <a:r>
              <a:rPr dirty="0" sz="2550" spc="-10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75757"/>
                </a:solidFill>
                <a:latin typeface="Arial MT"/>
                <a:cs typeface="Arial MT"/>
              </a:rPr>
              <a:t>interception</a:t>
            </a:r>
            <a:r>
              <a:rPr dirty="0" sz="2550" spc="-3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545454"/>
                </a:solidFill>
                <a:latin typeface="Arial MT"/>
                <a:cs typeface="Arial MT"/>
              </a:rPr>
              <a:t>(Man-</a:t>
            </a:r>
            <a:r>
              <a:rPr dirty="0" sz="2550" spc="-30">
                <a:solidFill>
                  <a:srgbClr val="545454"/>
                </a:solidFill>
                <a:latin typeface="Arial MT"/>
                <a:cs typeface="Arial MT"/>
              </a:rPr>
              <a:t>in-</a:t>
            </a:r>
            <a:r>
              <a:rPr dirty="0" sz="2550" spc="-35">
                <a:solidFill>
                  <a:srgbClr val="545454"/>
                </a:solidFill>
                <a:latin typeface="Arial MT"/>
                <a:cs typeface="Arial MT"/>
              </a:rPr>
              <a:t>the-</a:t>
            </a:r>
            <a:r>
              <a:rPr dirty="0" sz="2550" spc="-10">
                <a:solidFill>
                  <a:srgbClr val="545454"/>
                </a:solidFill>
                <a:latin typeface="Arial MT"/>
                <a:cs typeface="Arial MT"/>
              </a:rPr>
              <a:t>Middle).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884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9391" y="4892521"/>
            <a:ext cx="3298328" cy="87170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659391" y="4868961"/>
            <a:ext cx="9502775" cy="895350"/>
            <a:chOff x="9659391" y="4868961"/>
            <a:chExt cx="9502775" cy="89535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59163" y="4876814"/>
              <a:ext cx="2002556" cy="88740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659391" y="4868961"/>
              <a:ext cx="9494520" cy="887730"/>
            </a:xfrm>
            <a:custGeom>
              <a:avLst/>
              <a:gdLst/>
              <a:ahLst/>
              <a:cxnLst/>
              <a:rect l="l" t="t" r="r" b="b"/>
              <a:pathLst>
                <a:path w="9494519" h="887729">
                  <a:moveTo>
                    <a:pt x="9494475" y="887407"/>
                  </a:moveTo>
                  <a:lnTo>
                    <a:pt x="0" y="887407"/>
                  </a:lnTo>
                  <a:lnTo>
                    <a:pt x="0" y="0"/>
                  </a:lnTo>
                  <a:lnTo>
                    <a:pt x="9494475" y="0"/>
                  </a:lnTo>
                  <a:lnTo>
                    <a:pt x="9494475" y="887407"/>
                  </a:lnTo>
                  <a:close/>
                </a:path>
              </a:pathLst>
            </a:custGeom>
            <a:solidFill>
              <a:srgbClr val="0033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222171" y="5106253"/>
            <a:ext cx="21926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r>
              <a:rPr dirty="0" sz="180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1800" spc="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Arial MT"/>
                <a:cs typeface="Arial MT"/>
              </a:rPr>
              <a:t>Likelihood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845864" y="5089893"/>
            <a:ext cx="48450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Low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706828" y="5089893"/>
            <a:ext cx="9423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55">
                <a:solidFill>
                  <a:srgbClr val="FFFFFF"/>
                </a:solidFill>
                <a:latin typeface="Arial MT"/>
                <a:cs typeface="Arial MT"/>
              </a:rPr>
              <a:t>Medium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889875" y="5106253"/>
            <a:ext cx="5391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5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5800" spc="-1689">
                <a:solidFill>
                  <a:srgbClr val="00336B"/>
                </a:solidFill>
                <a:latin typeface="Arial MT"/>
                <a:cs typeface="Arial MT"/>
              </a:rPr>
              <a:t>a$¿a</a:t>
            </a:r>
            <a:r>
              <a:rPr dirty="0" sz="5800" spc="420">
                <a:solidFill>
                  <a:srgbClr val="00336B"/>
                </a:solidFill>
                <a:latin typeface="Arial MT"/>
                <a:cs typeface="Arial MT"/>
              </a:rPr>
              <a:t> </a:t>
            </a:r>
            <a:r>
              <a:rPr dirty="0" sz="5800" spc="-200">
                <a:solidFill>
                  <a:srgbClr val="073B6B"/>
                </a:solidFill>
                <a:latin typeface="Arial MT"/>
                <a:cs typeface="Arial MT"/>
              </a:rPr>
              <a:t>2.</a:t>
            </a:r>
            <a:r>
              <a:rPr dirty="0" sz="5800" spc="-270">
                <a:solidFill>
                  <a:srgbClr val="073B6B"/>
                </a:solidFill>
                <a:latin typeface="Arial MT"/>
                <a:cs typeface="Arial MT"/>
              </a:rPr>
              <a:t> </a:t>
            </a:r>
            <a:r>
              <a:rPr dirty="0" sz="5800">
                <a:solidFill>
                  <a:srgbClr val="002F60"/>
                </a:solidFill>
                <a:latin typeface="Arial MT"/>
                <a:cs typeface="Arial MT"/>
              </a:rPr>
              <a:t>Risk</a:t>
            </a:r>
            <a:r>
              <a:rPr dirty="0" sz="5800" spc="-300">
                <a:solidFill>
                  <a:srgbClr val="002F60"/>
                </a:solidFill>
                <a:latin typeface="Arial MT"/>
                <a:cs typeface="Arial MT"/>
              </a:rPr>
              <a:t> </a:t>
            </a:r>
            <a:r>
              <a:rPr dirty="0" sz="5800">
                <a:solidFill>
                  <a:srgbClr val="003467"/>
                </a:solidFill>
                <a:latin typeface="Arial MT"/>
                <a:cs typeface="Arial MT"/>
              </a:rPr>
              <a:t>Assessment</a:t>
            </a:r>
            <a:r>
              <a:rPr dirty="0" sz="5800" spc="585">
                <a:solidFill>
                  <a:srgbClr val="003467"/>
                </a:solidFill>
                <a:latin typeface="Arial MT"/>
                <a:cs typeface="Arial MT"/>
              </a:rPr>
              <a:t> </a:t>
            </a:r>
            <a:r>
              <a:rPr dirty="0" sz="5800" spc="45">
                <a:solidFill>
                  <a:srgbClr val="033169"/>
                </a:solidFill>
                <a:latin typeface="Arial MT"/>
                <a:cs typeface="Arial MT"/>
              </a:rPr>
              <a:t>Model</a:t>
            </a:r>
            <a:endParaRPr sz="5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29936" y="3041526"/>
            <a:ext cx="596582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95">
                <a:solidFill>
                  <a:srgbClr val="181818"/>
                </a:solidFill>
                <a:latin typeface="Arial MT"/>
                <a:cs typeface="Arial MT"/>
              </a:rPr>
              <a:t>NIST</a:t>
            </a:r>
            <a:r>
              <a:rPr dirty="0" sz="3200" spc="-6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3200" spc="75">
                <a:solidFill>
                  <a:srgbClr val="232323"/>
                </a:solidFill>
                <a:latin typeface="Arial MT"/>
                <a:cs typeface="Arial MT"/>
              </a:rPr>
              <a:t>Cybersecurity</a:t>
            </a:r>
            <a:r>
              <a:rPr dirty="0" sz="3200" spc="18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3200" spc="110">
                <a:solidFill>
                  <a:srgbClr val="1F1F1F"/>
                </a:solidFill>
                <a:latin typeface="Arial MT"/>
                <a:cs typeface="Arial MT"/>
              </a:rPr>
              <a:t>Framework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914960" y="4128535"/>
            <a:ext cx="297370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80">
                <a:solidFill>
                  <a:srgbClr val="003675"/>
                </a:solidFill>
                <a:latin typeface="Arial MT"/>
                <a:cs typeface="Arial MT"/>
              </a:rPr>
              <a:t>1.</a:t>
            </a:r>
            <a:r>
              <a:rPr dirty="0" sz="2550" spc="-110">
                <a:solidFill>
                  <a:srgbClr val="003675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003860"/>
                </a:solidFill>
                <a:latin typeface="Arial MT"/>
                <a:cs typeface="Arial MT"/>
              </a:rPr>
              <a:t>IDENTIFY</a:t>
            </a:r>
            <a:r>
              <a:rPr dirty="0" sz="2550" spc="210">
                <a:solidFill>
                  <a:srgbClr val="003860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003166"/>
                </a:solidFill>
                <a:latin typeface="Arial MT"/>
                <a:cs typeface="Arial MT"/>
              </a:rPr>
              <a:t>Assets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12454" y="5337922"/>
            <a:ext cx="399415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40715" algn="l"/>
              </a:tabLst>
            </a:pPr>
            <a:r>
              <a:rPr dirty="0" sz="2550" spc="-50">
                <a:solidFill>
                  <a:srgbClr val="133A6B"/>
                </a:solidFill>
                <a:latin typeface="Arial MT"/>
                <a:cs typeface="Arial MT"/>
              </a:rPr>
              <a:t>@</a:t>
            </a:r>
            <a:r>
              <a:rPr dirty="0" sz="2550">
                <a:solidFill>
                  <a:srgbClr val="133A6B"/>
                </a:solidFill>
                <a:latin typeface="Arial MT"/>
                <a:cs typeface="Arial MT"/>
              </a:rPr>
              <a:t>	</a:t>
            </a:r>
            <a:r>
              <a:rPr dirty="0" sz="2550" spc="90">
                <a:solidFill>
                  <a:srgbClr val="073862"/>
                </a:solidFill>
                <a:latin typeface="Arial MT"/>
                <a:cs typeface="Arial MT"/>
              </a:rPr>
              <a:t>2.</a:t>
            </a:r>
            <a:r>
              <a:rPr dirty="0" sz="2550" spc="-180">
                <a:solidFill>
                  <a:srgbClr val="073862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00366B"/>
                </a:solidFill>
                <a:latin typeface="Arial MT"/>
                <a:cs typeface="Arial MT"/>
              </a:rPr>
              <a:t>PROTECT</a:t>
            </a:r>
            <a:r>
              <a:rPr dirty="0" sz="2550" spc="-10">
                <a:solidFill>
                  <a:srgbClr val="00366B"/>
                </a:solidFill>
                <a:latin typeface="Arial MT"/>
                <a:cs typeface="Arial MT"/>
              </a:rPr>
              <a:t> </a:t>
            </a:r>
            <a:r>
              <a:rPr dirty="0" sz="2550" spc="100">
                <a:solidFill>
                  <a:srgbClr val="002A52"/>
                </a:solidFill>
                <a:latin typeface="Arial MT"/>
                <a:cs typeface="Arial MT"/>
              </a:rPr>
              <a:t>Systems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36848" y="6547309"/>
            <a:ext cx="295783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110">
                <a:solidFill>
                  <a:srgbClr val="083672"/>
                </a:solidFill>
                <a:latin typeface="Arial MT"/>
                <a:cs typeface="Arial MT"/>
              </a:rPr>
              <a:t>3.</a:t>
            </a:r>
            <a:r>
              <a:rPr dirty="0" sz="2550" spc="-180">
                <a:solidFill>
                  <a:srgbClr val="083672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013662"/>
                </a:solidFill>
                <a:latin typeface="Arial MT"/>
                <a:cs typeface="Arial MT"/>
              </a:rPr>
              <a:t>DETECT</a:t>
            </a:r>
            <a:r>
              <a:rPr dirty="0" sz="2550" spc="-80">
                <a:solidFill>
                  <a:srgbClr val="013662"/>
                </a:solidFill>
                <a:latin typeface="Arial MT"/>
                <a:cs typeface="Arial MT"/>
              </a:rPr>
              <a:t> </a:t>
            </a:r>
            <a:r>
              <a:rPr dirty="0" sz="2550" spc="100">
                <a:solidFill>
                  <a:srgbClr val="003466"/>
                </a:solidFill>
                <a:latin typeface="Arial MT"/>
                <a:cs typeface="Arial MT"/>
              </a:rPr>
              <a:t>Threats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07480" y="7756697"/>
            <a:ext cx="47440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98500" algn="l"/>
                <a:tab pos="3224530" algn="l"/>
              </a:tabLst>
            </a:pPr>
            <a:r>
              <a:rPr dirty="0" sz="2550" spc="45" i="1">
                <a:solidFill>
                  <a:srgbClr val="033362"/>
                </a:solidFill>
                <a:latin typeface="Arial"/>
                <a:cs typeface="Arial"/>
              </a:rPr>
              <a:t>fi°</a:t>
            </a:r>
            <a:r>
              <a:rPr dirty="0" sz="2550" i="1">
                <a:solidFill>
                  <a:srgbClr val="033362"/>
                </a:solidFill>
                <a:latin typeface="Arial"/>
                <a:cs typeface="Arial"/>
              </a:rPr>
              <a:t>	</a:t>
            </a:r>
            <a:r>
              <a:rPr dirty="0" sz="2550">
                <a:solidFill>
                  <a:srgbClr val="002664"/>
                </a:solidFill>
                <a:latin typeface="Arial MT"/>
                <a:cs typeface="Arial MT"/>
              </a:rPr>
              <a:t>4</a:t>
            </a:r>
            <a:r>
              <a:rPr dirty="0" sz="2550" i="1">
                <a:solidFill>
                  <a:srgbClr val="002664"/>
                </a:solidFill>
                <a:latin typeface="Arial"/>
                <a:cs typeface="Arial"/>
              </a:rPr>
              <a:t>.</a:t>
            </a:r>
            <a:r>
              <a:rPr dirty="0" sz="2550" spc="-40" i="1">
                <a:solidFill>
                  <a:srgbClr val="002664"/>
                </a:solidFill>
                <a:latin typeface="Arial"/>
                <a:cs typeface="Arial"/>
              </a:rPr>
              <a:t> </a:t>
            </a:r>
            <a:r>
              <a:rPr dirty="0" sz="2550">
                <a:solidFill>
                  <a:srgbClr val="003367"/>
                </a:solidFill>
                <a:latin typeface="Arial MT"/>
                <a:cs typeface="Arial MT"/>
              </a:rPr>
              <a:t>RESPOND</a:t>
            </a:r>
            <a:r>
              <a:rPr dirty="0" sz="2550" spc="395">
                <a:solidFill>
                  <a:srgbClr val="003367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052B52"/>
                </a:solidFill>
                <a:latin typeface="Arial MT"/>
                <a:cs typeface="Arial MT"/>
              </a:rPr>
              <a:t>to</a:t>
            </a:r>
            <a:r>
              <a:rPr dirty="0" sz="2550">
                <a:solidFill>
                  <a:srgbClr val="052B52"/>
                </a:solidFill>
                <a:latin typeface="Arial MT"/>
                <a:cs typeface="Arial MT"/>
              </a:rPr>
              <a:t>	</a:t>
            </a:r>
            <a:r>
              <a:rPr dirty="0" sz="2550" spc="170">
                <a:solidFill>
                  <a:srgbClr val="00345D"/>
                </a:solidFill>
                <a:latin typeface="Arial MT"/>
                <a:cs typeface="Arial MT"/>
              </a:rPr>
              <a:t>Incidents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13891" y="8973937"/>
            <a:ext cx="44646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43255" algn="l"/>
                <a:tab pos="2690495" algn="l"/>
              </a:tabLst>
            </a:pPr>
            <a:r>
              <a:rPr dirty="0" sz="2550" spc="240">
                <a:solidFill>
                  <a:srgbClr val="002854"/>
                </a:solidFill>
                <a:latin typeface="Arial MT"/>
                <a:cs typeface="Arial MT"/>
              </a:rPr>
              <a:t>C</a:t>
            </a:r>
            <a:r>
              <a:rPr dirty="0" sz="2550">
                <a:solidFill>
                  <a:srgbClr val="002854"/>
                </a:solidFill>
                <a:latin typeface="Arial MT"/>
                <a:cs typeface="Arial MT"/>
              </a:rPr>
              <a:t>	</a:t>
            </a:r>
            <a:r>
              <a:rPr dirty="0" sz="2550" spc="80">
                <a:solidFill>
                  <a:srgbClr val="033459"/>
                </a:solidFill>
                <a:latin typeface="Arial MT"/>
                <a:cs typeface="Arial MT"/>
              </a:rPr>
              <a:t>5.</a:t>
            </a:r>
            <a:r>
              <a:rPr dirty="0" sz="2550" spc="-130">
                <a:solidFill>
                  <a:srgbClr val="03345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083462"/>
                </a:solidFill>
                <a:latin typeface="Arial MT"/>
                <a:cs typeface="Arial MT"/>
              </a:rPr>
              <a:t>RECOVER</a:t>
            </a:r>
            <a:r>
              <a:rPr dirty="0" sz="2550">
                <a:solidFill>
                  <a:srgbClr val="083462"/>
                </a:solidFill>
                <a:latin typeface="Arial MT"/>
                <a:cs typeface="Arial MT"/>
              </a:rPr>
              <a:t>	</a:t>
            </a:r>
            <a:r>
              <a:rPr dirty="0" sz="2550" spc="125">
                <a:solidFill>
                  <a:srgbClr val="1A366B"/>
                </a:solidFill>
                <a:latin typeface="Arial MT"/>
                <a:cs typeface="Arial MT"/>
              </a:rPr>
              <a:t>Operations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071302" y="5842487"/>
            <a:ext cx="48450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30">
                <a:solidFill>
                  <a:srgbClr val="232323"/>
                </a:solidFill>
                <a:latin typeface="Arial MT"/>
                <a:cs typeface="Arial MT"/>
              </a:rPr>
              <a:t>Low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843286" y="6627804"/>
            <a:ext cx="93599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10">
                <a:solidFill>
                  <a:srgbClr val="212121"/>
                </a:solidFill>
                <a:latin typeface="Arial MT"/>
                <a:cs typeface="Arial MT"/>
              </a:rPr>
              <a:t>Medium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045842" y="7413121"/>
            <a:ext cx="6539230" cy="11918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87930" algn="l"/>
                <a:tab pos="4740275" algn="l"/>
              </a:tabLst>
            </a:pPr>
            <a:r>
              <a:rPr dirty="0" sz="2200" spc="-20">
                <a:solidFill>
                  <a:srgbClr val="212121"/>
                </a:solidFill>
                <a:latin typeface="Arial MT"/>
                <a:cs typeface="Arial MT"/>
              </a:rPr>
              <a:t>High</a:t>
            </a:r>
            <a:r>
              <a:rPr dirty="0" sz="220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dirty="0" sz="2200" spc="-10">
                <a:solidFill>
                  <a:srgbClr val="B69A36"/>
                </a:solidFill>
                <a:latin typeface="Arial MT"/>
                <a:cs typeface="Arial MT"/>
              </a:rPr>
              <a:t>Moderate</a:t>
            </a:r>
            <a:r>
              <a:rPr dirty="0" sz="2200">
                <a:solidFill>
                  <a:srgbClr val="B69A36"/>
                </a:solidFill>
                <a:latin typeface="Arial MT"/>
                <a:cs typeface="Arial MT"/>
              </a:rPr>
              <a:t>	</a:t>
            </a:r>
            <a:r>
              <a:rPr dirty="0" sz="2200" spc="-265">
                <a:solidFill>
                  <a:srgbClr val="672838"/>
                </a:solidFill>
                <a:latin typeface="Arial MT"/>
                <a:cs typeface="Arial MT"/>
              </a:rPr>
              <a:t>Cri€cal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200">
              <a:latin typeface="Arial MT"/>
              <a:cs typeface="Arial MT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</a:pPr>
            <a:r>
              <a:rPr dirty="0" sz="2200" spc="-155" i="1">
                <a:solidFill>
                  <a:srgbClr val="525252"/>
                </a:solidFill>
                <a:latin typeface="Arial"/>
                <a:cs typeface="Arial"/>
              </a:rPr>
              <a:t>Pisk</a:t>
            </a:r>
            <a:r>
              <a:rPr dirty="0" sz="2200" spc="-7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200" spc="-160" i="1">
                <a:solidFill>
                  <a:srgbClr val="5B5B5B"/>
                </a:solidFill>
                <a:latin typeface="Arial"/>
                <a:cs typeface="Arial"/>
              </a:rPr>
              <a:t>Score</a:t>
            </a:r>
            <a:r>
              <a:rPr dirty="0" sz="2200" spc="-90" i="1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2200" spc="-260" i="1">
                <a:solidFill>
                  <a:srgbClr val="5B5B5B"/>
                </a:solidFill>
                <a:latin typeface="Arial"/>
                <a:cs typeface="Arial"/>
              </a:rPr>
              <a:t>--</a:t>
            </a:r>
            <a:r>
              <a:rPr dirty="0" sz="2200" spc="-25" i="1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2200" spc="-100" i="1">
                <a:solidFill>
                  <a:srgbClr val="4D4D4D"/>
                </a:solidFill>
                <a:latin typeface="Arial"/>
                <a:cs typeface="Arial"/>
              </a:rPr>
              <a:t>Probability</a:t>
            </a:r>
            <a:r>
              <a:rPr dirty="0" sz="2200" spc="5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dirty="0" sz="2200" spc="-70" i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200" spc="-175" i="1">
                <a:solidFill>
                  <a:srgbClr val="545454"/>
                </a:solidFill>
                <a:latin typeface="Arial"/>
                <a:cs typeface="Arial"/>
              </a:rPr>
              <a:t>Occurrence</a:t>
            </a:r>
            <a:r>
              <a:rPr dirty="0" sz="2200" spc="60" i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200" spc="-215" i="1">
                <a:solidFill>
                  <a:srgbClr val="525252"/>
                </a:solidFill>
                <a:latin typeface="Arial"/>
                <a:cs typeface="Arial"/>
              </a:rPr>
              <a:t>x</a:t>
            </a:r>
            <a:r>
              <a:rPr dirty="0" sz="220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200" spc="-110" i="1">
                <a:solidFill>
                  <a:srgbClr val="545454"/>
                </a:solidFill>
                <a:latin typeface="Arial"/>
                <a:cs typeface="Arial"/>
              </a:rPr>
              <a:t>Potential</a:t>
            </a:r>
            <a:r>
              <a:rPr dirty="0" sz="2200" spc="-30" i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200" spc="-35" i="1">
                <a:solidFill>
                  <a:srgbClr val="606060"/>
                </a:solidFill>
                <a:latin typeface="Arial"/>
                <a:cs typeface="Arial"/>
              </a:rPr>
              <a:t>Impact</a:t>
            </a:r>
            <a:endParaRPr sz="22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238785" y="4047385"/>
            <a:ext cx="432435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90">
                <a:solidFill>
                  <a:srgbClr val="242424"/>
                </a:solidFill>
                <a:latin typeface="Arial MT"/>
                <a:cs typeface="Arial MT"/>
              </a:rPr>
              <a:t>Risk</a:t>
            </a:r>
            <a:r>
              <a:rPr dirty="0" sz="310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3100" spc="125">
                <a:solidFill>
                  <a:srgbClr val="232323"/>
                </a:solidFill>
                <a:latin typeface="Arial MT"/>
                <a:cs typeface="Arial MT"/>
              </a:rPr>
              <a:t>Evaluation</a:t>
            </a:r>
            <a:r>
              <a:rPr dirty="0" sz="3100" spc="22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3100" spc="170">
                <a:solidFill>
                  <a:srgbClr val="262626"/>
                </a:solidFill>
                <a:latin typeface="Arial MT"/>
                <a:cs typeface="Arial MT"/>
              </a:rPr>
              <a:t>Matrix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448031" y="5842487"/>
            <a:ext cx="127762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05">
                <a:solidFill>
                  <a:srgbClr val="1C4D33"/>
                </a:solidFill>
                <a:latin typeface="Arial MT"/>
                <a:cs typeface="Arial MT"/>
              </a:rPr>
              <a:t>Acceptable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631160" y="6627804"/>
            <a:ext cx="89725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70">
                <a:solidFill>
                  <a:srgbClr val="2D6942"/>
                </a:solidFill>
                <a:latin typeface="Arial MT"/>
                <a:cs typeface="Arial MT"/>
              </a:rPr>
              <a:t>Monitor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720100" y="5842487"/>
            <a:ext cx="89725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70">
                <a:solidFill>
                  <a:srgbClr val="216734"/>
                </a:solidFill>
                <a:latin typeface="Arial MT"/>
                <a:cs typeface="Arial MT"/>
              </a:rPr>
              <a:t>Monitor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5610157" y="6627804"/>
            <a:ext cx="111823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90">
                <a:solidFill>
                  <a:srgbClr val="8C791F"/>
                </a:solidFill>
                <a:latin typeface="Arial MT"/>
                <a:cs typeface="Arial MT"/>
              </a:rPr>
              <a:t>Moderate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589154" y="5842487"/>
            <a:ext cx="111823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90">
                <a:solidFill>
                  <a:srgbClr val="9C7716"/>
                </a:solidFill>
                <a:latin typeface="Arial MT"/>
                <a:cs typeface="Arial MT"/>
              </a:rPr>
              <a:t>Moderate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7753010" y="6627804"/>
            <a:ext cx="80708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75">
                <a:solidFill>
                  <a:srgbClr val="672334"/>
                </a:solidFill>
                <a:latin typeface="Arial MT"/>
                <a:cs typeface="Arial MT"/>
              </a:rPr>
              <a:t>Critical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666327" y="7413121"/>
            <a:ext cx="96774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10">
                <a:solidFill>
                  <a:srgbClr val="6B161F"/>
                </a:solidFill>
                <a:latin typeface="Arial MT"/>
                <a:cs typeface="Arial MT"/>
              </a:rPr>
              <a:t>Extreme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397589" y="7275956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 h="0">
                <a:moveTo>
                  <a:pt x="0" y="0"/>
                </a:moveTo>
                <a:lnTo>
                  <a:pt x="329832" y="0"/>
                </a:lnTo>
              </a:path>
            </a:pathLst>
          </a:custGeom>
          <a:ln w="23559">
            <a:solidFill>
              <a:srgbClr val="0C346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397589" y="6934344"/>
            <a:ext cx="330200" cy="353695"/>
            <a:chOff x="10397589" y="6934344"/>
            <a:chExt cx="330200" cy="353695"/>
          </a:xfrm>
        </p:grpSpPr>
        <p:sp>
          <p:nvSpPr>
            <p:cNvPr id="4" name="object 4" descr=""/>
            <p:cNvSpPr/>
            <p:nvPr/>
          </p:nvSpPr>
          <p:spPr>
            <a:xfrm>
              <a:off x="10397589" y="6934344"/>
              <a:ext cx="330200" cy="353695"/>
            </a:xfrm>
            <a:custGeom>
              <a:avLst/>
              <a:gdLst/>
              <a:ahLst/>
              <a:cxnLst/>
              <a:rect l="l" t="t" r="r" b="b"/>
              <a:pathLst>
                <a:path w="330200" h="353695">
                  <a:moveTo>
                    <a:pt x="0" y="11779"/>
                  </a:moveTo>
                  <a:lnTo>
                    <a:pt x="329832" y="11779"/>
                  </a:lnTo>
                </a:path>
                <a:path w="330200" h="353695">
                  <a:moveTo>
                    <a:pt x="11779" y="353392"/>
                  </a:moveTo>
                  <a:lnTo>
                    <a:pt x="11779" y="0"/>
                  </a:lnTo>
                </a:path>
              </a:pathLst>
            </a:custGeom>
            <a:ln w="23559">
              <a:solidFill>
                <a:srgbClr val="0C34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715642" y="6934344"/>
              <a:ext cx="0" cy="353695"/>
            </a:xfrm>
            <a:custGeom>
              <a:avLst/>
              <a:gdLst/>
              <a:ahLst/>
              <a:cxnLst/>
              <a:rect l="l" t="t" r="r" b="b"/>
              <a:pathLst>
                <a:path w="0" h="353695">
                  <a:moveTo>
                    <a:pt x="0" y="353392"/>
                  </a:moveTo>
                  <a:lnTo>
                    <a:pt x="0" y="0"/>
                  </a:lnTo>
                </a:path>
              </a:pathLst>
            </a:custGeom>
            <a:ln w="23559">
              <a:solidFill>
                <a:srgbClr val="0C34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800" spc="-355">
                <a:solidFill>
                  <a:srgbClr val="003466"/>
                </a:solidFill>
                <a:latin typeface="Arial MT"/>
                <a:cs typeface="Arial MT"/>
              </a:rPr>
              <a:t>@</a:t>
            </a:r>
            <a:r>
              <a:rPr dirty="0" sz="5800" spc="-50">
                <a:solidFill>
                  <a:srgbClr val="003466"/>
                </a:solidFill>
                <a:latin typeface="Arial MT"/>
                <a:cs typeface="Arial MT"/>
              </a:rPr>
              <a:t> </a:t>
            </a:r>
            <a:r>
              <a:rPr dirty="0" sz="5800" spc="-114">
                <a:solidFill>
                  <a:srgbClr val="01336B"/>
                </a:solidFill>
                <a:latin typeface="Arial MT"/>
                <a:cs typeface="Arial MT"/>
              </a:rPr>
              <a:t>3.</a:t>
            </a:r>
            <a:r>
              <a:rPr dirty="0" sz="5800" spc="-235">
                <a:solidFill>
                  <a:srgbClr val="01336B"/>
                </a:solidFill>
                <a:latin typeface="Arial MT"/>
                <a:cs typeface="Arial MT"/>
              </a:rPr>
              <a:t> </a:t>
            </a:r>
            <a:r>
              <a:rPr dirty="0" sz="5800">
                <a:solidFill>
                  <a:srgbClr val="00346D"/>
                </a:solidFill>
                <a:latin typeface="Arial MT"/>
                <a:cs typeface="Arial MT"/>
              </a:rPr>
              <a:t>Proposed</a:t>
            </a:r>
            <a:r>
              <a:rPr dirty="0" sz="5800" spc="484">
                <a:solidFill>
                  <a:srgbClr val="00346D"/>
                </a:solidFill>
                <a:latin typeface="Arial MT"/>
                <a:cs typeface="Arial MT"/>
              </a:rPr>
              <a:t> </a:t>
            </a:r>
            <a:r>
              <a:rPr dirty="0" sz="5800" spc="190">
                <a:solidFill>
                  <a:srgbClr val="013366"/>
                </a:solidFill>
                <a:latin typeface="Arial MT"/>
                <a:cs typeface="Arial MT"/>
              </a:rPr>
              <a:t>Mitigation</a:t>
            </a:r>
            <a:r>
              <a:rPr dirty="0" sz="5800" spc="325">
                <a:solidFill>
                  <a:srgbClr val="013366"/>
                </a:solidFill>
                <a:latin typeface="Arial MT"/>
                <a:cs typeface="Arial MT"/>
              </a:rPr>
              <a:t> </a:t>
            </a:r>
            <a:r>
              <a:rPr dirty="0" sz="5800" spc="-10">
                <a:solidFill>
                  <a:srgbClr val="003467"/>
                </a:solidFill>
                <a:latin typeface="Arial MT"/>
                <a:cs typeface="Arial MT"/>
              </a:rPr>
              <a:t>Strategies</a:t>
            </a:r>
            <a:endParaRPr sz="5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9440" algn="l"/>
              </a:tabLst>
            </a:pPr>
            <a:r>
              <a:rPr dirty="0" spc="-430">
                <a:solidFill>
                  <a:srgbClr val="003367"/>
                </a:solidFill>
              </a:rPr>
              <a:t>@</a:t>
            </a:r>
            <a:r>
              <a:rPr dirty="0">
                <a:solidFill>
                  <a:srgbClr val="003367"/>
                </a:solidFill>
              </a:rPr>
              <a:t>	</a:t>
            </a:r>
            <a:r>
              <a:rPr dirty="0" spc="65">
                <a:solidFill>
                  <a:srgbClr val="002D67"/>
                </a:solidFill>
              </a:rPr>
              <a:t>Access</a:t>
            </a:r>
            <a:r>
              <a:rPr dirty="0" spc="30">
                <a:solidFill>
                  <a:srgbClr val="002D67"/>
                </a:solidFill>
              </a:rPr>
              <a:t> </a:t>
            </a:r>
            <a:r>
              <a:rPr dirty="0" spc="120"/>
              <a:t>Control</a:t>
            </a:r>
            <a:r>
              <a:rPr dirty="0" spc="285"/>
              <a:t> </a:t>
            </a:r>
            <a:r>
              <a:rPr dirty="0" spc="-10">
                <a:solidFill>
                  <a:srgbClr val="013160"/>
                </a:solidFill>
              </a:rPr>
              <a:t>(IAM)</a:t>
            </a:r>
          </a:p>
          <a:p>
            <a:pPr>
              <a:lnSpc>
                <a:spcPct val="100000"/>
              </a:lnSpc>
              <a:spcBef>
                <a:spcPts val="1150"/>
              </a:spcBef>
            </a:pPr>
          </a:p>
          <a:p>
            <a:pPr marL="31750" marR="5080" indent="-5715">
              <a:lnSpc>
                <a:spcPct val="129299"/>
              </a:lnSpc>
            </a:pPr>
            <a:r>
              <a:rPr dirty="0" sz="2550">
                <a:solidFill>
                  <a:srgbClr val="565656"/>
                </a:solidFill>
              </a:rPr>
              <a:t>Implement</a:t>
            </a:r>
            <a:r>
              <a:rPr dirty="0" sz="2550" spc="105">
                <a:solidFill>
                  <a:srgbClr val="565656"/>
                </a:solidFill>
              </a:rPr>
              <a:t> </a:t>
            </a:r>
            <a:r>
              <a:rPr dirty="0" sz="2550" spc="-40">
                <a:solidFill>
                  <a:srgbClr val="545454"/>
                </a:solidFill>
              </a:rPr>
              <a:t>Multi-</a:t>
            </a:r>
            <a:r>
              <a:rPr dirty="0" sz="2550">
                <a:solidFill>
                  <a:srgbClr val="545454"/>
                </a:solidFill>
              </a:rPr>
              <a:t>Factor</a:t>
            </a:r>
            <a:r>
              <a:rPr dirty="0" sz="2550" spc="110">
                <a:solidFill>
                  <a:srgbClr val="545454"/>
                </a:solidFill>
              </a:rPr>
              <a:t> </a:t>
            </a:r>
            <a:r>
              <a:rPr dirty="0" sz="2550">
                <a:solidFill>
                  <a:srgbClr val="575757"/>
                </a:solidFill>
              </a:rPr>
              <a:t>Authentication</a:t>
            </a:r>
            <a:r>
              <a:rPr dirty="0" sz="2550" spc="-180">
                <a:solidFill>
                  <a:srgbClr val="575757"/>
                </a:solidFill>
              </a:rPr>
              <a:t> </a:t>
            </a:r>
            <a:r>
              <a:rPr dirty="0" sz="2550" spc="-130">
                <a:solidFill>
                  <a:srgbClr val="595959"/>
                </a:solidFill>
              </a:rPr>
              <a:t>(MFA)</a:t>
            </a:r>
            <a:r>
              <a:rPr dirty="0" sz="2550" spc="25">
                <a:solidFill>
                  <a:srgbClr val="595959"/>
                </a:solidFill>
              </a:rPr>
              <a:t> </a:t>
            </a:r>
            <a:r>
              <a:rPr dirty="0" sz="2550">
                <a:solidFill>
                  <a:srgbClr val="595959"/>
                </a:solidFill>
              </a:rPr>
              <a:t>for</a:t>
            </a:r>
            <a:r>
              <a:rPr dirty="0" sz="2550" spc="-35">
                <a:solidFill>
                  <a:srgbClr val="595959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all</a:t>
            </a:r>
            <a:r>
              <a:rPr dirty="0" sz="2550" spc="-130">
                <a:solidFill>
                  <a:srgbClr val="5B5B5B"/>
                </a:solidFill>
              </a:rPr>
              <a:t> </a:t>
            </a:r>
            <a:r>
              <a:rPr dirty="0" sz="2550" spc="-10">
                <a:solidFill>
                  <a:srgbClr val="4F4F4F"/>
                </a:solidFill>
              </a:rPr>
              <a:t>remote </a:t>
            </a:r>
            <a:r>
              <a:rPr dirty="0" sz="2550" spc="-40">
                <a:solidFill>
                  <a:srgbClr val="545454"/>
                </a:solidFill>
              </a:rPr>
              <a:t>access</a:t>
            </a:r>
            <a:r>
              <a:rPr dirty="0" sz="2550" spc="-140">
                <a:solidFill>
                  <a:srgbClr val="545454"/>
                </a:solidFill>
              </a:rPr>
              <a:t> </a:t>
            </a:r>
            <a:r>
              <a:rPr dirty="0" sz="2550" spc="-50">
                <a:solidFill>
                  <a:srgbClr val="5D5D5D"/>
                </a:solidFill>
              </a:rPr>
              <a:t>and</a:t>
            </a:r>
            <a:r>
              <a:rPr dirty="0" sz="2550" spc="-130">
                <a:solidFill>
                  <a:srgbClr val="5D5D5D"/>
                </a:solidFill>
              </a:rPr>
              <a:t> </a:t>
            </a:r>
            <a:r>
              <a:rPr dirty="0" sz="2550">
                <a:solidFill>
                  <a:srgbClr val="5D5D5D"/>
                </a:solidFill>
              </a:rPr>
              <a:t>admin</a:t>
            </a:r>
            <a:r>
              <a:rPr dirty="0" sz="2550" spc="-110">
                <a:solidFill>
                  <a:srgbClr val="5D5D5D"/>
                </a:solidFill>
              </a:rPr>
              <a:t> </a:t>
            </a:r>
            <a:r>
              <a:rPr dirty="0" sz="2550" spc="-35">
                <a:solidFill>
                  <a:srgbClr val="565656"/>
                </a:solidFill>
              </a:rPr>
              <a:t>accounts.</a:t>
            </a:r>
            <a:r>
              <a:rPr dirty="0" sz="2550" spc="65">
                <a:solidFill>
                  <a:srgbClr val="565656"/>
                </a:solidFill>
              </a:rPr>
              <a:t> </a:t>
            </a:r>
            <a:r>
              <a:rPr dirty="0" sz="2550" spc="-90">
                <a:solidFill>
                  <a:srgbClr val="5E5E5E"/>
                </a:solidFill>
              </a:rPr>
              <a:t>Apply </a:t>
            </a:r>
            <a:r>
              <a:rPr dirty="0" sz="2550">
                <a:solidFill>
                  <a:srgbClr val="595959"/>
                </a:solidFill>
              </a:rPr>
              <a:t>the</a:t>
            </a:r>
            <a:r>
              <a:rPr dirty="0" sz="2550" spc="-145">
                <a:solidFill>
                  <a:srgbClr val="595959"/>
                </a:solidFill>
              </a:rPr>
              <a:t> </a:t>
            </a:r>
            <a:r>
              <a:rPr dirty="0" sz="2550" spc="-10">
                <a:solidFill>
                  <a:srgbClr val="5B5B5B"/>
                </a:solidFill>
              </a:rPr>
              <a:t>Principle</a:t>
            </a:r>
            <a:r>
              <a:rPr dirty="0" sz="2550" spc="-2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606060"/>
                </a:solidFill>
              </a:rPr>
              <a:t>of</a:t>
            </a:r>
            <a:r>
              <a:rPr dirty="0" sz="2550" spc="-100">
                <a:solidFill>
                  <a:srgbClr val="606060"/>
                </a:solidFill>
              </a:rPr>
              <a:t> </a:t>
            </a:r>
            <a:r>
              <a:rPr dirty="0" sz="2550" spc="-10">
                <a:solidFill>
                  <a:srgbClr val="545454"/>
                </a:solidFill>
              </a:rPr>
              <a:t>Least </a:t>
            </a:r>
            <a:r>
              <a:rPr dirty="0" sz="2550" spc="-10">
                <a:solidFill>
                  <a:srgbClr val="5D5D5D"/>
                </a:solidFill>
              </a:rPr>
              <a:t>Privilege</a:t>
            </a:r>
            <a:r>
              <a:rPr dirty="0" sz="2550" spc="-130">
                <a:solidFill>
                  <a:srgbClr val="5D5D5D"/>
                </a:solidFill>
              </a:rPr>
              <a:t> </a:t>
            </a:r>
            <a:r>
              <a:rPr dirty="0" sz="2550" spc="-10">
                <a:solidFill>
                  <a:srgbClr val="525252"/>
                </a:solidFill>
              </a:rPr>
              <a:t>(PoLP).</a:t>
            </a:r>
            <a:endParaRPr sz="2550"/>
          </a:p>
          <a:p>
            <a:pPr>
              <a:lnSpc>
                <a:spcPct val="100000"/>
              </a:lnSpc>
            </a:pPr>
            <a:endParaRPr sz="2550"/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2550"/>
          </a:p>
          <a:p>
            <a:pPr marL="20320">
              <a:lnSpc>
                <a:spcPct val="100000"/>
              </a:lnSpc>
              <a:spcBef>
                <a:spcPts val="5"/>
              </a:spcBef>
              <a:tabLst>
                <a:tab pos="739140" algn="l"/>
              </a:tabLst>
            </a:pPr>
            <a:r>
              <a:rPr dirty="0" sz="3200" spc="-50">
                <a:solidFill>
                  <a:srgbClr val="033164"/>
                </a:solidFill>
              </a:rPr>
              <a:t>g</a:t>
            </a:r>
            <a:r>
              <a:rPr dirty="0" sz="3200">
                <a:solidFill>
                  <a:srgbClr val="033164"/>
                </a:solidFill>
              </a:rPr>
              <a:t>	</a:t>
            </a:r>
            <a:r>
              <a:rPr dirty="0" sz="3200" spc="160">
                <a:solidFill>
                  <a:srgbClr val="01336B"/>
                </a:solidFill>
              </a:rPr>
              <a:t>Human</a:t>
            </a:r>
            <a:r>
              <a:rPr dirty="0" sz="3200" spc="10">
                <a:solidFill>
                  <a:srgbClr val="01336B"/>
                </a:solidFill>
              </a:rPr>
              <a:t> </a:t>
            </a:r>
            <a:r>
              <a:rPr dirty="0" sz="3200" spc="80">
                <a:solidFill>
                  <a:srgbClr val="002F67"/>
                </a:solidFill>
              </a:rPr>
              <a:t>Firewall</a:t>
            </a:r>
            <a:endParaRPr sz="3200"/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3200"/>
          </a:p>
          <a:p>
            <a:pPr marL="35560" marR="5080" indent="-3175">
              <a:lnSpc>
                <a:spcPct val="129299"/>
              </a:lnSpc>
            </a:pPr>
            <a:r>
              <a:rPr dirty="0" sz="2550" spc="-60">
                <a:solidFill>
                  <a:srgbClr val="565656"/>
                </a:solidFill>
              </a:rPr>
              <a:t>Conduct</a:t>
            </a:r>
            <a:r>
              <a:rPr dirty="0" sz="2550" spc="-80">
                <a:solidFill>
                  <a:srgbClr val="565656"/>
                </a:solidFill>
              </a:rPr>
              <a:t> </a:t>
            </a:r>
            <a:r>
              <a:rPr dirty="0" sz="2550" spc="-20">
                <a:solidFill>
                  <a:srgbClr val="5B5B5B"/>
                </a:solidFill>
              </a:rPr>
              <a:t>regular</a:t>
            </a:r>
            <a:r>
              <a:rPr dirty="0" sz="2550" spc="-90">
                <a:solidFill>
                  <a:srgbClr val="5B5B5B"/>
                </a:solidFill>
              </a:rPr>
              <a:t> </a:t>
            </a:r>
            <a:r>
              <a:rPr dirty="0" sz="2550" spc="-10">
                <a:solidFill>
                  <a:srgbClr val="545454"/>
                </a:solidFill>
              </a:rPr>
              <a:t>security</a:t>
            </a:r>
            <a:r>
              <a:rPr dirty="0" sz="2550" spc="-90">
                <a:solidFill>
                  <a:srgbClr val="545454"/>
                </a:solidFill>
              </a:rPr>
              <a:t> </a:t>
            </a:r>
            <a:r>
              <a:rPr dirty="0" sz="2550" spc="-45">
                <a:solidFill>
                  <a:srgbClr val="5B5B5B"/>
                </a:solidFill>
              </a:rPr>
              <a:t>awareness</a:t>
            </a:r>
            <a:r>
              <a:rPr dirty="0" sz="2550" spc="-9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D5D5D"/>
                </a:solidFill>
              </a:rPr>
              <a:t>training.</a:t>
            </a:r>
            <a:r>
              <a:rPr dirty="0" sz="2550" spc="-110">
                <a:solidFill>
                  <a:srgbClr val="5D5D5D"/>
                </a:solidFill>
              </a:rPr>
              <a:t> </a:t>
            </a:r>
            <a:r>
              <a:rPr dirty="0" sz="2550" spc="-165">
                <a:solidFill>
                  <a:srgbClr val="626262"/>
                </a:solidFill>
              </a:rPr>
              <a:t>Run</a:t>
            </a:r>
            <a:r>
              <a:rPr dirty="0" sz="2550" spc="-10">
                <a:solidFill>
                  <a:srgbClr val="626262"/>
                </a:solidFill>
              </a:rPr>
              <a:t> </a:t>
            </a:r>
            <a:r>
              <a:rPr dirty="0" sz="2550" spc="-10">
                <a:solidFill>
                  <a:srgbClr val="565656"/>
                </a:solidFill>
              </a:rPr>
              <a:t>simulated </a:t>
            </a:r>
            <a:r>
              <a:rPr dirty="0" sz="2550" spc="-30">
                <a:solidFill>
                  <a:srgbClr val="5D5D5D"/>
                </a:solidFill>
              </a:rPr>
              <a:t>phishing</a:t>
            </a:r>
            <a:r>
              <a:rPr dirty="0" sz="2550" spc="-150">
                <a:solidFill>
                  <a:srgbClr val="5D5D5D"/>
                </a:solidFill>
              </a:rPr>
              <a:t> </a:t>
            </a:r>
            <a:r>
              <a:rPr dirty="0" sz="2550" spc="-30">
                <a:solidFill>
                  <a:srgbClr val="5E5E5E"/>
                </a:solidFill>
              </a:rPr>
              <a:t>campaigns</a:t>
            </a:r>
            <a:r>
              <a:rPr dirty="0" sz="2550" spc="-65">
                <a:solidFill>
                  <a:srgbClr val="5E5E5E"/>
                </a:solidFill>
              </a:rPr>
              <a:t> </a:t>
            </a:r>
            <a:r>
              <a:rPr dirty="0" sz="2550" spc="70">
                <a:solidFill>
                  <a:srgbClr val="565656"/>
                </a:solidFill>
              </a:rPr>
              <a:t>to</a:t>
            </a:r>
            <a:r>
              <a:rPr dirty="0" sz="2550" spc="-175">
                <a:solidFill>
                  <a:srgbClr val="565656"/>
                </a:solidFill>
              </a:rPr>
              <a:t> </a:t>
            </a:r>
            <a:r>
              <a:rPr dirty="0" sz="2550" spc="-25">
                <a:solidFill>
                  <a:srgbClr val="505050"/>
                </a:solidFill>
              </a:rPr>
              <a:t>educate</a:t>
            </a:r>
            <a:r>
              <a:rPr dirty="0" sz="2550" spc="-60">
                <a:solidFill>
                  <a:srgbClr val="505050"/>
                </a:solidFill>
              </a:rPr>
              <a:t> </a:t>
            </a:r>
            <a:r>
              <a:rPr dirty="0" sz="2550" spc="-40">
                <a:solidFill>
                  <a:srgbClr val="595959"/>
                </a:solidFill>
              </a:rPr>
              <a:t>employees</a:t>
            </a:r>
            <a:r>
              <a:rPr dirty="0" sz="2550" spc="20">
                <a:solidFill>
                  <a:srgbClr val="595959"/>
                </a:solidFill>
              </a:rPr>
              <a:t> </a:t>
            </a:r>
            <a:r>
              <a:rPr dirty="0" sz="2550" spc="-55">
                <a:solidFill>
                  <a:srgbClr val="5D5D5D"/>
                </a:solidFill>
              </a:rPr>
              <a:t>on</a:t>
            </a:r>
            <a:r>
              <a:rPr dirty="0" sz="2550" spc="-125">
                <a:solidFill>
                  <a:srgbClr val="5D5D5D"/>
                </a:solidFill>
              </a:rPr>
              <a:t> </a:t>
            </a:r>
            <a:r>
              <a:rPr dirty="0" sz="2550" spc="-10">
                <a:solidFill>
                  <a:srgbClr val="595959"/>
                </a:solidFill>
              </a:rPr>
              <a:t>recognizing </a:t>
            </a:r>
            <a:r>
              <a:rPr dirty="0" sz="2550" spc="-10">
                <a:solidFill>
                  <a:srgbClr val="5E5E5E"/>
                </a:solidFill>
              </a:rPr>
              <a:t>social</a:t>
            </a:r>
            <a:r>
              <a:rPr dirty="0" sz="2550" spc="-155">
                <a:solidFill>
                  <a:srgbClr val="5E5E5E"/>
                </a:solidFill>
              </a:rPr>
              <a:t> </a:t>
            </a:r>
            <a:r>
              <a:rPr dirty="0" sz="2550" spc="-10">
                <a:solidFill>
                  <a:srgbClr val="565656"/>
                </a:solidFill>
              </a:rPr>
              <a:t>engineering.</a:t>
            </a:r>
            <a:endParaRPr sz="2550"/>
          </a:p>
        </p:txBody>
      </p:sp>
      <p:sp>
        <p:nvSpPr>
          <p:cNvPr id="8" name="object 8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120"/>
              </a:spcBef>
            </a:pPr>
            <a:r>
              <a:rPr dirty="0" spc="165"/>
              <a:t>Network</a:t>
            </a:r>
            <a:r>
              <a:rPr dirty="0" spc="100"/>
              <a:t> </a:t>
            </a:r>
            <a:r>
              <a:rPr dirty="0" spc="-10">
                <a:solidFill>
                  <a:srgbClr val="0E3B7E"/>
                </a:solidFill>
              </a:rPr>
              <a:t>Defense</a:t>
            </a:r>
          </a:p>
          <a:p>
            <a:pPr>
              <a:lnSpc>
                <a:spcPct val="100000"/>
              </a:lnSpc>
              <a:spcBef>
                <a:spcPts val="1015"/>
              </a:spcBef>
            </a:pPr>
          </a:p>
          <a:p>
            <a:pPr marL="16510" marR="5080" indent="-3175">
              <a:lnSpc>
                <a:spcPct val="129299"/>
              </a:lnSpc>
            </a:pPr>
            <a:r>
              <a:rPr dirty="0" sz="2550" spc="-90">
                <a:solidFill>
                  <a:srgbClr val="595959"/>
                </a:solidFill>
              </a:rPr>
              <a:t>Deploy</a:t>
            </a:r>
            <a:r>
              <a:rPr dirty="0" sz="2550" spc="-35">
                <a:solidFill>
                  <a:srgbClr val="595959"/>
                </a:solidFill>
              </a:rPr>
              <a:t> </a:t>
            </a:r>
            <a:r>
              <a:rPr dirty="0" sz="2550" spc="-50">
                <a:solidFill>
                  <a:srgbClr val="565656"/>
                </a:solidFill>
              </a:rPr>
              <a:t>Next-</a:t>
            </a:r>
            <a:r>
              <a:rPr dirty="0" sz="2550" spc="-40">
                <a:solidFill>
                  <a:srgbClr val="565656"/>
                </a:solidFill>
              </a:rPr>
              <a:t>Generation</a:t>
            </a:r>
            <a:r>
              <a:rPr dirty="0" sz="2550" spc="-130">
                <a:solidFill>
                  <a:srgbClr val="565656"/>
                </a:solidFill>
              </a:rPr>
              <a:t> </a:t>
            </a:r>
            <a:r>
              <a:rPr dirty="0" sz="2550" spc="-10">
                <a:solidFill>
                  <a:srgbClr val="4F4F4F"/>
                </a:solidFill>
              </a:rPr>
              <a:t>Firewalls</a:t>
            </a:r>
            <a:r>
              <a:rPr dirty="0" sz="2550" spc="30">
                <a:solidFill>
                  <a:srgbClr val="4F4F4F"/>
                </a:solidFill>
              </a:rPr>
              <a:t> </a:t>
            </a:r>
            <a:r>
              <a:rPr dirty="0" sz="2550" spc="-165">
                <a:solidFill>
                  <a:srgbClr val="5B5B5B"/>
                </a:solidFill>
              </a:rPr>
              <a:t>(NGFW)</a:t>
            </a:r>
            <a:r>
              <a:rPr dirty="0" sz="2550" spc="100">
                <a:solidFill>
                  <a:srgbClr val="5B5B5B"/>
                </a:solidFill>
              </a:rPr>
              <a:t> </a:t>
            </a:r>
            <a:r>
              <a:rPr dirty="0" sz="2550" spc="70">
                <a:solidFill>
                  <a:srgbClr val="565656"/>
                </a:solidFill>
              </a:rPr>
              <a:t>to</a:t>
            </a:r>
            <a:r>
              <a:rPr dirty="0" sz="2550" spc="-120">
                <a:solidFill>
                  <a:srgbClr val="565656"/>
                </a:solidFill>
              </a:rPr>
              <a:t> </a:t>
            </a:r>
            <a:r>
              <a:rPr dirty="0" sz="2550">
                <a:solidFill>
                  <a:srgbClr val="595959"/>
                </a:solidFill>
              </a:rPr>
              <a:t>filter</a:t>
            </a:r>
            <a:r>
              <a:rPr dirty="0" sz="2550" spc="-40">
                <a:solidFill>
                  <a:srgbClr val="595959"/>
                </a:solidFill>
              </a:rPr>
              <a:t> </a:t>
            </a:r>
            <a:r>
              <a:rPr dirty="0" sz="2550" spc="-10">
                <a:solidFill>
                  <a:srgbClr val="565656"/>
                </a:solidFill>
              </a:rPr>
              <a:t>traffic. </a:t>
            </a:r>
            <a:r>
              <a:rPr dirty="0" sz="2550" spc="-35">
                <a:solidFill>
                  <a:srgbClr val="565656"/>
                </a:solidFill>
              </a:rPr>
              <a:t>Segment</a:t>
            </a:r>
            <a:r>
              <a:rPr dirty="0" sz="2550" spc="-90">
                <a:solidFill>
                  <a:srgbClr val="565656"/>
                </a:solidFill>
              </a:rPr>
              <a:t> </a:t>
            </a:r>
            <a:r>
              <a:rPr dirty="0" sz="2550">
                <a:solidFill>
                  <a:srgbClr val="595959"/>
                </a:solidFill>
              </a:rPr>
              <a:t>networks</a:t>
            </a:r>
            <a:r>
              <a:rPr dirty="0" sz="2550" spc="-175">
                <a:solidFill>
                  <a:srgbClr val="595959"/>
                </a:solidFill>
              </a:rPr>
              <a:t> </a:t>
            </a:r>
            <a:r>
              <a:rPr dirty="0" sz="2550" spc="-110">
                <a:solidFill>
                  <a:srgbClr val="565656"/>
                </a:solidFill>
              </a:rPr>
              <a:t>(e.g.,</a:t>
            </a:r>
            <a:r>
              <a:rPr dirty="0" sz="2550" spc="-70">
                <a:solidFill>
                  <a:srgbClr val="565656"/>
                </a:solidFill>
              </a:rPr>
              <a:t> </a:t>
            </a:r>
            <a:r>
              <a:rPr dirty="0" sz="2550" spc="-45">
                <a:solidFill>
                  <a:srgbClr val="565656"/>
                </a:solidFill>
              </a:rPr>
              <a:t>Guest</a:t>
            </a:r>
            <a:r>
              <a:rPr dirty="0" sz="2550" spc="-40">
                <a:solidFill>
                  <a:srgbClr val="565656"/>
                </a:solidFill>
              </a:rPr>
              <a:t> </a:t>
            </a:r>
            <a:r>
              <a:rPr dirty="0" sz="2550" spc="-140">
                <a:solidFill>
                  <a:srgbClr val="5B5B5B"/>
                </a:solidFill>
              </a:rPr>
              <a:t>Wi-</a:t>
            </a:r>
            <a:r>
              <a:rPr dirty="0" sz="2550">
                <a:solidFill>
                  <a:srgbClr val="5B5B5B"/>
                </a:solidFill>
              </a:rPr>
              <a:t>Fi</a:t>
            </a:r>
            <a:r>
              <a:rPr dirty="0" sz="2550" spc="-110">
                <a:solidFill>
                  <a:srgbClr val="5B5B5B"/>
                </a:solidFill>
              </a:rPr>
              <a:t> </a:t>
            </a:r>
            <a:r>
              <a:rPr dirty="0" sz="2550" spc="-85">
                <a:solidFill>
                  <a:srgbClr val="4F4F4F"/>
                </a:solidFill>
              </a:rPr>
              <a:t>vs.</a:t>
            </a:r>
            <a:r>
              <a:rPr dirty="0" sz="2550" spc="-95">
                <a:solidFill>
                  <a:srgbClr val="4F4F4F"/>
                </a:solidFill>
              </a:rPr>
              <a:t> </a:t>
            </a:r>
            <a:r>
              <a:rPr dirty="0" sz="2550" spc="-40">
                <a:solidFill>
                  <a:srgbClr val="545454"/>
                </a:solidFill>
              </a:rPr>
              <a:t>Corporate</a:t>
            </a:r>
            <a:r>
              <a:rPr dirty="0" sz="2550" spc="-35">
                <a:solidFill>
                  <a:srgbClr val="545454"/>
                </a:solidFill>
              </a:rPr>
              <a:t> </a:t>
            </a:r>
            <a:r>
              <a:rPr dirty="0" sz="2550" spc="-75">
                <a:solidFill>
                  <a:srgbClr val="595959"/>
                </a:solidFill>
              </a:rPr>
              <a:t>LAN)</a:t>
            </a:r>
            <a:r>
              <a:rPr dirty="0" sz="2550" spc="-90">
                <a:solidFill>
                  <a:srgbClr val="595959"/>
                </a:solidFill>
              </a:rPr>
              <a:t> </a:t>
            </a:r>
            <a:r>
              <a:rPr dirty="0" sz="2550" spc="40">
                <a:solidFill>
                  <a:srgbClr val="595959"/>
                </a:solidFill>
              </a:rPr>
              <a:t>to </a:t>
            </a:r>
            <a:r>
              <a:rPr dirty="0" sz="2550">
                <a:solidFill>
                  <a:srgbClr val="5B5B5B"/>
                </a:solidFill>
              </a:rPr>
              <a:t>limit</a:t>
            </a:r>
            <a:r>
              <a:rPr dirty="0" sz="2550" spc="155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95959"/>
                </a:solidFill>
              </a:rPr>
              <a:t>lateral</a:t>
            </a:r>
            <a:r>
              <a:rPr dirty="0" sz="2550" spc="125">
                <a:solidFill>
                  <a:srgbClr val="595959"/>
                </a:solidFill>
              </a:rPr>
              <a:t> </a:t>
            </a:r>
            <a:r>
              <a:rPr dirty="0" sz="2550" spc="-10">
                <a:solidFill>
                  <a:srgbClr val="545454"/>
                </a:solidFill>
              </a:rPr>
              <a:t>movement.</a:t>
            </a:r>
            <a:endParaRPr sz="2550"/>
          </a:p>
          <a:p>
            <a:pPr>
              <a:lnSpc>
                <a:spcPct val="100000"/>
              </a:lnSpc>
            </a:pPr>
            <a:endParaRPr sz="2550"/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2550"/>
          </a:p>
          <a:p>
            <a:pPr marL="33020">
              <a:lnSpc>
                <a:spcPct val="100000"/>
              </a:lnSpc>
              <a:tabLst>
                <a:tab pos="582295" algn="l"/>
              </a:tabLst>
            </a:pPr>
            <a:r>
              <a:rPr dirty="0" sz="3100" spc="-50">
                <a:solidFill>
                  <a:srgbClr val="003464"/>
                </a:solidFill>
              </a:rPr>
              <a:t>a</a:t>
            </a:r>
            <a:r>
              <a:rPr dirty="0" sz="3100">
                <a:solidFill>
                  <a:srgbClr val="003464"/>
                </a:solidFill>
              </a:rPr>
              <a:t>	</a:t>
            </a:r>
            <a:r>
              <a:rPr dirty="0" sz="3100" spc="140">
                <a:solidFill>
                  <a:srgbClr val="013B70"/>
                </a:solidFill>
              </a:rPr>
              <a:t>Data</a:t>
            </a:r>
            <a:r>
              <a:rPr dirty="0" sz="3100" spc="245">
                <a:solidFill>
                  <a:srgbClr val="013B70"/>
                </a:solidFill>
              </a:rPr>
              <a:t> </a:t>
            </a:r>
            <a:r>
              <a:rPr dirty="0" sz="3100" spc="85">
                <a:solidFill>
                  <a:srgbClr val="002F67"/>
                </a:solidFill>
              </a:rPr>
              <a:t>Resilience</a:t>
            </a:r>
            <a:endParaRPr sz="3100"/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3100"/>
          </a:p>
          <a:p>
            <a:pPr marL="17780" marR="309245" indent="-5715">
              <a:lnSpc>
                <a:spcPct val="129299"/>
              </a:lnSpc>
            </a:pPr>
            <a:r>
              <a:rPr dirty="0" sz="2550" spc="-30">
                <a:solidFill>
                  <a:srgbClr val="5E5E5E"/>
                </a:solidFill>
              </a:rPr>
              <a:t>Follow</a:t>
            </a:r>
            <a:r>
              <a:rPr dirty="0" sz="2550" spc="-85">
                <a:solidFill>
                  <a:srgbClr val="5E5E5E"/>
                </a:solidFill>
              </a:rPr>
              <a:t> </a:t>
            </a:r>
            <a:r>
              <a:rPr dirty="0" sz="2550">
                <a:solidFill>
                  <a:srgbClr val="565656"/>
                </a:solidFill>
              </a:rPr>
              <a:t>the</a:t>
            </a:r>
            <a:r>
              <a:rPr dirty="0" sz="2550" spc="-110">
                <a:solidFill>
                  <a:srgbClr val="565656"/>
                </a:solidFill>
              </a:rPr>
              <a:t> </a:t>
            </a:r>
            <a:r>
              <a:rPr dirty="0" sz="2550" spc="-125">
                <a:solidFill>
                  <a:srgbClr val="595959"/>
                </a:solidFill>
              </a:rPr>
              <a:t>3-2-</a:t>
            </a:r>
            <a:r>
              <a:rPr dirty="0" sz="2550">
                <a:solidFill>
                  <a:srgbClr val="595959"/>
                </a:solidFill>
              </a:rPr>
              <a:t>1</a:t>
            </a:r>
            <a:r>
              <a:rPr dirty="0" sz="2550" spc="-20">
                <a:solidFill>
                  <a:srgbClr val="595959"/>
                </a:solidFill>
              </a:rPr>
              <a:t> </a:t>
            </a:r>
            <a:r>
              <a:rPr dirty="0" sz="2550" spc="-55">
                <a:solidFill>
                  <a:srgbClr val="5D5D5D"/>
                </a:solidFill>
              </a:rPr>
              <a:t>backup</a:t>
            </a:r>
            <a:r>
              <a:rPr dirty="0" sz="2550" spc="-40">
                <a:solidFill>
                  <a:srgbClr val="5D5D5D"/>
                </a:solidFill>
              </a:rPr>
              <a:t> </a:t>
            </a:r>
            <a:r>
              <a:rPr dirty="0" sz="2550" spc="-20">
                <a:solidFill>
                  <a:srgbClr val="575757"/>
                </a:solidFill>
              </a:rPr>
              <a:t>rule:</a:t>
            </a:r>
            <a:r>
              <a:rPr dirty="0" sz="2550" spc="-95">
                <a:solidFill>
                  <a:srgbClr val="575757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3</a:t>
            </a:r>
            <a:r>
              <a:rPr dirty="0" sz="2550" spc="-135">
                <a:solidFill>
                  <a:srgbClr val="5B5B5B"/>
                </a:solidFill>
              </a:rPr>
              <a:t> </a:t>
            </a:r>
            <a:r>
              <a:rPr dirty="0" sz="2550" spc="-25">
                <a:solidFill>
                  <a:srgbClr val="5E5E5E"/>
                </a:solidFill>
              </a:rPr>
              <a:t>copies</a:t>
            </a:r>
            <a:r>
              <a:rPr dirty="0" sz="2550" spc="-40">
                <a:solidFill>
                  <a:srgbClr val="5E5E5E"/>
                </a:solidFill>
              </a:rPr>
              <a:t> </a:t>
            </a:r>
            <a:r>
              <a:rPr dirty="0" sz="2550">
                <a:solidFill>
                  <a:srgbClr val="5E5E5E"/>
                </a:solidFill>
              </a:rPr>
              <a:t>of</a:t>
            </a:r>
            <a:r>
              <a:rPr dirty="0" sz="2550" spc="-60">
                <a:solidFill>
                  <a:srgbClr val="5E5E5E"/>
                </a:solidFill>
              </a:rPr>
              <a:t> </a:t>
            </a:r>
            <a:r>
              <a:rPr dirty="0" sz="2550" spc="-45">
                <a:solidFill>
                  <a:srgbClr val="494949"/>
                </a:solidFill>
              </a:rPr>
              <a:t>data,</a:t>
            </a:r>
            <a:r>
              <a:rPr dirty="0" sz="2550" spc="-130">
                <a:solidFill>
                  <a:srgbClr val="494949"/>
                </a:solidFill>
              </a:rPr>
              <a:t> </a:t>
            </a:r>
            <a:r>
              <a:rPr dirty="0" sz="2550">
                <a:solidFill>
                  <a:srgbClr val="505050"/>
                </a:solidFill>
              </a:rPr>
              <a:t>2</a:t>
            </a:r>
            <a:r>
              <a:rPr dirty="0" sz="2550" spc="-180">
                <a:solidFill>
                  <a:srgbClr val="505050"/>
                </a:solidFill>
              </a:rPr>
              <a:t> </a:t>
            </a:r>
            <a:r>
              <a:rPr dirty="0" sz="2550" spc="-10">
                <a:solidFill>
                  <a:srgbClr val="565656"/>
                </a:solidFill>
              </a:rPr>
              <a:t>different </a:t>
            </a:r>
            <a:r>
              <a:rPr dirty="0" sz="2550" spc="-10">
                <a:solidFill>
                  <a:srgbClr val="5E5E5E"/>
                </a:solidFill>
              </a:rPr>
              <a:t>media</a:t>
            </a:r>
            <a:r>
              <a:rPr dirty="0" sz="2550" spc="-100">
                <a:solidFill>
                  <a:srgbClr val="5E5E5E"/>
                </a:solidFill>
              </a:rPr>
              <a:t> </a:t>
            </a:r>
            <a:r>
              <a:rPr dirty="0" sz="2550" spc="-65">
                <a:solidFill>
                  <a:srgbClr val="545454"/>
                </a:solidFill>
              </a:rPr>
              <a:t>types,</a:t>
            </a:r>
            <a:r>
              <a:rPr dirty="0" sz="2550" spc="-165">
                <a:solidFill>
                  <a:srgbClr val="545454"/>
                </a:solidFill>
              </a:rPr>
              <a:t> </a:t>
            </a:r>
            <a:r>
              <a:rPr dirty="0" sz="2550">
                <a:solidFill>
                  <a:srgbClr val="676767"/>
                </a:solidFill>
              </a:rPr>
              <a:t>1</a:t>
            </a:r>
            <a:r>
              <a:rPr dirty="0" sz="2550" spc="-75">
                <a:solidFill>
                  <a:srgbClr val="676767"/>
                </a:solidFill>
              </a:rPr>
              <a:t> </a:t>
            </a:r>
            <a:r>
              <a:rPr dirty="0" sz="2550">
                <a:solidFill>
                  <a:srgbClr val="565656"/>
                </a:solidFill>
              </a:rPr>
              <a:t>offsite</a:t>
            </a:r>
            <a:r>
              <a:rPr dirty="0" sz="2550" spc="-20">
                <a:solidFill>
                  <a:srgbClr val="565656"/>
                </a:solidFill>
              </a:rPr>
              <a:t> </a:t>
            </a:r>
            <a:r>
              <a:rPr dirty="0" sz="2550" spc="-120">
                <a:solidFill>
                  <a:srgbClr val="525252"/>
                </a:solidFill>
              </a:rPr>
              <a:t>copy.</a:t>
            </a:r>
            <a:r>
              <a:rPr dirty="0" sz="2550" spc="-40">
                <a:solidFill>
                  <a:srgbClr val="525252"/>
                </a:solidFill>
              </a:rPr>
              <a:t> </a:t>
            </a:r>
            <a:r>
              <a:rPr dirty="0" sz="2550" spc="-35">
                <a:solidFill>
                  <a:srgbClr val="565656"/>
                </a:solidFill>
              </a:rPr>
              <a:t>Test</a:t>
            </a:r>
            <a:r>
              <a:rPr dirty="0" sz="2550" spc="60">
                <a:solidFill>
                  <a:srgbClr val="565656"/>
                </a:solidFill>
              </a:rPr>
              <a:t> </a:t>
            </a:r>
            <a:r>
              <a:rPr dirty="0" sz="2550">
                <a:solidFill>
                  <a:srgbClr val="565656"/>
                </a:solidFill>
              </a:rPr>
              <a:t>restoration</a:t>
            </a:r>
            <a:r>
              <a:rPr dirty="0" sz="2550" spc="20">
                <a:solidFill>
                  <a:srgbClr val="565656"/>
                </a:solidFill>
              </a:rPr>
              <a:t> </a:t>
            </a:r>
            <a:r>
              <a:rPr dirty="0" sz="2550" spc="-10">
                <a:solidFill>
                  <a:srgbClr val="4F4F4F"/>
                </a:solidFill>
              </a:rPr>
              <a:t>procedures </a:t>
            </a:r>
            <a:r>
              <a:rPr dirty="0" sz="2550" spc="-10">
                <a:solidFill>
                  <a:srgbClr val="565656"/>
                </a:solidFill>
              </a:rPr>
              <a:t>quarterly.</a:t>
            </a:r>
            <a:endParaRPr sz="2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88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1547" y="713062"/>
            <a:ext cx="12037695" cy="8699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616075" algn="l"/>
              </a:tabLst>
            </a:pPr>
            <a:r>
              <a:rPr dirty="0" sz="5500" spc="-1455" i="1">
                <a:solidFill>
                  <a:srgbClr val="003466"/>
                </a:solidFill>
                <a:latin typeface="Arial"/>
                <a:cs typeface="Arial"/>
              </a:rPr>
              <a:t>@</a:t>
            </a:r>
            <a:r>
              <a:rPr dirty="0" sz="5500" spc="355" i="1">
                <a:solidFill>
                  <a:srgbClr val="003466"/>
                </a:solidFill>
                <a:latin typeface="Arial"/>
                <a:cs typeface="Arial"/>
              </a:rPr>
              <a:t> </a:t>
            </a:r>
            <a:r>
              <a:rPr dirty="0" sz="5500" spc="-625" i="1">
                <a:solidFill>
                  <a:srgbClr val="003B75"/>
                </a:solidFill>
                <a:latin typeface="Arial"/>
                <a:cs typeface="Arial"/>
              </a:rPr>
              <a:t>4.</a:t>
            </a:r>
            <a:r>
              <a:rPr dirty="0" sz="5500" i="1">
                <a:solidFill>
                  <a:srgbClr val="003B75"/>
                </a:solidFill>
                <a:latin typeface="Arial"/>
                <a:cs typeface="Arial"/>
              </a:rPr>
              <a:t>	</a:t>
            </a:r>
            <a:r>
              <a:rPr dirty="0" sz="5500" spc="235">
                <a:solidFill>
                  <a:srgbClr val="03345E"/>
                </a:solidFill>
                <a:latin typeface="Arial MT"/>
                <a:cs typeface="Arial MT"/>
              </a:rPr>
              <a:t>Model</a:t>
            </a:r>
            <a:r>
              <a:rPr dirty="0" sz="5500" spc="50">
                <a:solidFill>
                  <a:srgbClr val="03345E"/>
                </a:solidFill>
                <a:latin typeface="Arial MT"/>
                <a:cs typeface="Arial MT"/>
              </a:rPr>
              <a:t> </a:t>
            </a:r>
            <a:r>
              <a:rPr dirty="0" sz="5500" spc="220">
                <a:solidFill>
                  <a:srgbClr val="013467"/>
                </a:solidFill>
                <a:latin typeface="Arial MT"/>
                <a:cs typeface="Arial MT"/>
              </a:rPr>
              <a:t>Validation:</a:t>
            </a:r>
            <a:r>
              <a:rPr dirty="0" sz="5500" spc="-80">
                <a:solidFill>
                  <a:srgbClr val="013467"/>
                </a:solidFill>
                <a:latin typeface="Arial MT"/>
                <a:cs typeface="Arial MT"/>
              </a:rPr>
              <a:t> </a:t>
            </a:r>
            <a:r>
              <a:rPr dirty="0" sz="5500">
                <a:solidFill>
                  <a:srgbClr val="003462"/>
                </a:solidFill>
                <a:latin typeface="Arial MT"/>
                <a:cs typeface="Arial MT"/>
              </a:rPr>
              <a:t>Case</a:t>
            </a:r>
            <a:r>
              <a:rPr dirty="0" sz="5500" spc="35">
                <a:solidFill>
                  <a:srgbClr val="003462"/>
                </a:solidFill>
                <a:latin typeface="Arial MT"/>
                <a:cs typeface="Arial MT"/>
              </a:rPr>
              <a:t> </a:t>
            </a:r>
            <a:r>
              <a:rPr dirty="0" sz="5500" spc="170">
                <a:solidFill>
                  <a:srgbClr val="003367"/>
                </a:solidFill>
                <a:latin typeface="Arial MT"/>
                <a:cs typeface="Arial MT"/>
              </a:rPr>
              <a:t>Studies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80226" y="2934853"/>
            <a:ext cx="7832725" cy="3738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82295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002F66"/>
                </a:solidFill>
                <a:latin typeface="Arial MT"/>
                <a:cs typeface="Arial MT"/>
              </a:rPr>
              <a:t>Case</a:t>
            </a:r>
            <a:r>
              <a:rPr dirty="0" sz="2550" spc="5">
                <a:solidFill>
                  <a:srgbClr val="002F66"/>
                </a:solidFill>
                <a:latin typeface="Arial MT"/>
                <a:cs typeface="Arial MT"/>
              </a:rPr>
              <a:t> </a:t>
            </a:r>
            <a:r>
              <a:rPr dirty="0" sz="2550" spc="114">
                <a:solidFill>
                  <a:srgbClr val="002F72"/>
                </a:solidFill>
                <a:latin typeface="Arial MT"/>
                <a:cs typeface="Arial MT"/>
              </a:rPr>
              <a:t>A:</a:t>
            </a:r>
            <a:r>
              <a:rPr dirty="0" sz="2550" spc="-225">
                <a:solidFill>
                  <a:srgbClr val="002F72"/>
                </a:solidFill>
                <a:latin typeface="Arial MT"/>
                <a:cs typeface="Arial MT"/>
              </a:rPr>
              <a:t> </a:t>
            </a:r>
            <a:r>
              <a:rPr dirty="0" sz="2550" spc="80">
                <a:solidFill>
                  <a:srgbClr val="00346D"/>
                </a:solidFill>
                <a:latin typeface="Arial MT"/>
                <a:cs typeface="Arial MT"/>
              </a:rPr>
              <a:t>Retail</a:t>
            </a:r>
            <a:r>
              <a:rPr dirty="0" sz="2550" spc="-20">
                <a:solidFill>
                  <a:srgbClr val="00346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00346E"/>
                </a:solidFill>
                <a:latin typeface="Arial MT"/>
                <a:cs typeface="Arial MT"/>
              </a:rPr>
              <a:t>SME</a:t>
            </a:r>
            <a:r>
              <a:rPr dirty="0" sz="2550" spc="-35">
                <a:solidFill>
                  <a:srgbClr val="00346E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003167"/>
                </a:solidFill>
                <a:latin typeface="Arial MT"/>
                <a:cs typeface="Arial MT"/>
              </a:rPr>
              <a:t>(Before)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20370" algn="l"/>
              </a:tabLst>
            </a:pPr>
            <a:r>
              <a:rPr dirty="0" sz="2200" spc="40">
                <a:solidFill>
                  <a:srgbClr val="E23B54"/>
                </a:solidFill>
                <a:latin typeface="Arial MT"/>
                <a:cs typeface="Arial MT"/>
              </a:rPr>
              <a:t>M</a:t>
            </a:r>
            <a:r>
              <a:rPr dirty="0" sz="2200">
                <a:solidFill>
                  <a:srgbClr val="E23B54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626262"/>
                </a:solidFill>
                <a:latin typeface="Arial MT"/>
                <a:cs typeface="Arial MT"/>
              </a:rPr>
              <a:t>No</a:t>
            </a:r>
            <a:r>
              <a:rPr dirty="0" sz="2200" spc="-114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45454"/>
                </a:solidFill>
                <a:latin typeface="Arial MT"/>
                <a:cs typeface="Arial MT"/>
              </a:rPr>
              <a:t>Firewall:</a:t>
            </a:r>
            <a:r>
              <a:rPr dirty="0" sz="2200" spc="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75757"/>
                </a:solidFill>
                <a:latin typeface="Arial MT"/>
                <a:cs typeface="Arial MT"/>
              </a:rPr>
              <a:t>Direct</a:t>
            </a:r>
            <a:r>
              <a:rPr dirty="0" sz="2200" spc="11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5959"/>
                </a:solidFill>
                <a:latin typeface="Arial MT"/>
                <a:cs typeface="Arial MT"/>
              </a:rPr>
              <a:t>connection</a:t>
            </a:r>
            <a:r>
              <a:rPr dirty="0" sz="2200" spc="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646464"/>
                </a:solidFill>
                <a:latin typeface="Arial MT"/>
                <a:cs typeface="Arial MT"/>
              </a:rPr>
              <a:t>to</a:t>
            </a:r>
            <a:r>
              <a:rPr dirty="0" sz="2200" spc="-9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5E5E5E"/>
                </a:solidFill>
                <a:latin typeface="Arial MT"/>
                <a:cs typeface="Arial MT"/>
              </a:rPr>
              <a:t>ISP</a:t>
            </a:r>
            <a:r>
              <a:rPr dirty="0" sz="2200" spc="-13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Arial MT"/>
                <a:cs typeface="Arial MT"/>
              </a:rPr>
              <a:t>modem.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92100"/>
              </a:lnSpc>
              <a:tabLst>
                <a:tab pos="419734" algn="l"/>
              </a:tabLst>
            </a:pPr>
            <a:r>
              <a:rPr dirty="0" sz="2200" spc="-50">
                <a:solidFill>
                  <a:srgbClr val="DF3442"/>
                </a:solidFill>
                <a:latin typeface="Arial MT"/>
                <a:cs typeface="Arial MT"/>
              </a:rPr>
              <a:t>M</a:t>
            </a:r>
            <a:r>
              <a:rPr dirty="0" sz="2200">
                <a:solidFill>
                  <a:srgbClr val="DF3442"/>
                </a:solidFill>
                <a:latin typeface="Arial MT"/>
                <a:cs typeface="Arial MT"/>
              </a:rPr>
              <a:t>	</a:t>
            </a:r>
            <a:r>
              <a:rPr dirty="0" sz="2200" spc="-610">
                <a:solidFill>
                  <a:srgbClr val="DF344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25252"/>
                </a:solidFill>
                <a:latin typeface="Arial MT"/>
                <a:cs typeface="Arial MT"/>
              </a:rPr>
              <a:t>Shared</a:t>
            </a:r>
            <a:r>
              <a:rPr dirty="0" sz="2200" spc="-15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05050"/>
                </a:solidFill>
                <a:latin typeface="Arial MT"/>
                <a:cs typeface="Arial MT"/>
              </a:rPr>
              <a:t>Passwords:</a:t>
            </a:r>
            <a:r>
              <a:rPr dirty="0" sz="2200" spc="-8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D4D4D"/>
                </a:solidFill>
                <a:latin typeface="Arial MT"/>
                <a:cs typeface="Arial MT"/>
              </a:rPr>
              <a:t>Employees</a:t>
            </a:r>
            <a:r>
              <a:rPr dirty="0" sz="2200" spc="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75757"/>
                </a:solidFill>
                <a:latin typeface="Arial MT"/>
                <a:cs typeface="Arial MT"/>
              </a:rPr>
              <a:t>shared</a:t>
            </a:r>
            <a:r>
              <a:rPr dirty="0" sz="2200" spc="-5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45454"/>
                </a:solidFill>
                <a:latin typeface="Arial MT"/>
                <a:cs typeface="Arial MT"/>
              </a:rPr>
              <a:t>"admin123"</a:t>
            </a:r>
            <a:r>
              <a:rPr dirty="0" sz="2200" spc="5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65656"/>
                </a:solidFill>
                <a:latin typeface="Arial MT"/>
                <a:cs typeface="Arial MT"/>
              </a:rPr>
              <a:t>for</a:t>
            </a:r>
            <a:r>
              <a:rPr dirty="0" sz="2200" spc="-9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5B5B5B"/>
                </a:solidFill>
                <a:latin typeface="Arial MT"/>
                <a:cs typeface="Arial MT"/>
              </a:rPr>
              <a:t>POS. </a:t>
            </a:r>
            <a:r>
              <a:rPr dirty="0" sz="2200" spc="-50">
                <a:solidFill>
                  <a:srgbClr val="E23142"/>
                </a:solidFill>
                <a:latin typeface="Arial MT"/>
                <a:cs typeface="Arial MT"/>
              </a:rPr>
              <a:t>M</a:t>
            </a:r>
            <a:r>
              <a:rPr dirty="0" sz="2200">
                <a:solidFill>
                  <a:srgbClr val="E23142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5E5E5E"/>
                </a:solidFill>
                <a:latin typeface="Arial MT"/>
                <a:cs typeface="Arial MT"/>
              </a:rPr>
              <a:t>Data</a:t>
            </a:r>
            <a:r>
              <a:rPr dirty="0" sz="2200" spc="-3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5959"/>
                </a:solidFill>
                <a:latin typeface="Arial MT"/>
                <a:cs typeface="Arial MT"/>
              </a:rPr>
              <a:t>Loss:</a:t>
            </a:r>
            <a:r>
              <a:rPr dirty="0" sz="2200" spc="-7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5959"/>
                </a:solidFill>
                <a:latin typeface="Arial MT"/>
                <a:cs typeface="Arial MT"/>
              </a:rPr>
              <a:t>No</a:t>
            </a:r>
            <a:r>
              <a:rPr dirty="0" sz="22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B5B5B"/>
                </a:solidFill>
                <a:latin typeface="Arial MT"/>
                <a:cs typeface="Arial MT"/>
              </a:rPr>
              <a:t>automated</a:t>
            </a:r>
            <a:r>
              <a:rPr dirty="0" sz="2200" spc="4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65656"/>
                </a:solidFill>
                <a:latin typeface="Arial MT"/>
                <a:cs typeface="Arial MT"/>
              </a:rPr>
              <a:t>backups;</a:t>
            </a:r>
            <a:r>
              <a:rPr dirty="0" sz="2200" spc="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65656"/>
                </a:solidFill>
                <a:latin typeface="Arial MT"/>
                <a:cs typeface="Arial MT"/>
              </a:rPr>
              <a:t>risk</a:t>
            </a:r>
            <a:r>
              <a:rPr dirty="0" sz="2200" spc="-2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D5D5D"/>
                </a:solidFill>
                <a:latin typeface="Arial MT"/>
                <a:cs typeface="Arial MT"/>
              </a:rPr>
              <a:t>of</a:t>
            </a:r>
            <a:r>
              <a:rPr dirty="0" sz="2200" spc="-11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5D5D5D"/>
                </a:solidFill>
                <a:latin typeface="Arial MT"/>
                <a:cs typeface="Arial MT"/>
              </a:rPr>
              <a:t>total</a:t>
            </a:r>
            <a:r>
              <a:rPr dirty="0" sz="2200" spc="-4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65656"/>
                </a:solidFill>
                <a:latin typeface="Arial MT"/>
                <a:cs typeface="Arial MT"/>
              </a:rPr>
              <a:t>loss.</a:t>
            </a:r>
            <a:endParaRPr sz="2200">
              <a:latin typeface="Arial MT"/>
              <a:cs typeface="Arial MT"/>
            </a:endParaRPr>
          </a:p>
          <a:p>
            <a:pPr marL="421005" marR="641350" indent="-408940">
              <a:lnSpc>
                <a:spcPct val="135900"/>
              </a:lnSpc>
              <a:spcBef>
                <a:spcPts val="1360"/>
              </a:spcBef>
              <a:tabLst>
                <a:tab pos="419734" algn="l"/>
              </a:tabLst>
            </a:pPr>
            <a:r>
              <a:rPr dirty="0" sz="2200" spc="-50">
                <a:solidFill>
                  <a:srgbClr val="E23142"/>
                </a:solidFill>
                <a:latin typeface="Arial MT"/>
                <a:cs typeface="Arial MT"/>
              </a:rPr>
              <a:t>M</a:t>
            </a:r>
            <a:r>
              <a:rPr dirty="0" sz="2200">
                <a:solidFill>
                  <a:srgbClr val="E23142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565656"/>
                </a:solidFill>
                <a:latin typeface="Arial MT"/>
                <a:cs typeface="Arial MT"/>
              </a:rPr>
              <a:t>Outcome:</a:t>
            </a:r>
            <a:r>
              <a:rPr dirty="0" sz="2200" spc="-2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B5B5B"/>
                </a:solidFill>
                <a:latin typeface="Arial MT"/>
                <a:cs typeface="Arial MT"/>
              </a:rPr>
              <a:t>High</a:t>
            </a:r>
            <a:r>
              <a:rPr dirty="0" sz="2200" spc="-2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65656"/>
                </a:solidFill>
                <a:latin typeface="Arial MT"/>
                <a:cs typeface="Arial MT"/>
              </a:rPr>
              <a:t>susceptibility</a:t>
            </a:r>
            <a:r>
              <a:rPr dirty="0" sz="2200" spc="-15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5D5D5D"/>
                </a:solidFill>
                <a:latin typeface="Arial MT"/>
                <a:cs typeface="Arial MT"/>
              </a:rPr>
              <a:t>to</a:t>
            </a:r>
            <a:r>
              <a:rPr dirty="0" sz="2200" spc="-114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25252"/>
                </a:solidFill>
                <a:latin typeface="Arial MT"/>
                <a:cs typeface="Arial MT"/>
              </a:rPr>
              <a:t>Ransomware</a:t>
            </a:r>
            <a:r>
              <a:rPr dirty="0" sz="2200" spc="2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D5D5D"/>
                </a:solidFill>
                <a:latin typeface="Arial MT"/>
                <a:cs typeface="Arial MT"/>
              </a:rPr>
              <a:t>and</a:t>
            </a:r>
            <a:r>
              <a:rPr dirty="0" sz="2200" spc="-4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5B5B5B"/>
                </a:solidFill>
                <a:latin typeface="Arial MT"/>
                <a:cs typeface="Arial MT"/>
              </a:rPr>
              <a:t>data </a:t>
            </a:r>
            <a:r>
              <a:rPr dirty="0" sz="2200" spc="60">
                <a:solidFill>
                  <a:srgbClr val="484848"/>
                </a:solidFill>
                <a:latin typeface="Arial MT"/>
                <a:cs typeface="Arial MT"/>
              </a:rPr>
              <a:t>theft.</a:t>
            </a:r>
            <a:r>
              <a:rPr dirty="0" sz="2200" spc="-3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575757"/>
                </a:solidFill>
                <a:latin typeface="Arial MT"/>
                <a:cs typeface="Arial MT"/>
              </a:rPr>
              <a:t>Risk</a:t>
            </a:r>
            <a:r>
              <a:rPr dirty="0" sz="2200" spc="-7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545454"/>
                </a:solidFill>
                <a:latin typeface="Arial MT"/>
                <a:cs typeface="Arial MT"/>
              </a:rPr>
              <a:t>Score:</a:t>
            </a:r>
            <a:r>
              <a:rPr dirty="0" sz="2200" spc="-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45454"/>
                </a:solidFill>
                <a:latin typeface="Arial MT"/>
                <a:cs typeface="Arial MT"/>
              </a:rPr>
              <a:t>Extreme.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800219" y="2934853"/>
            <a:ext cx="7598409" cy="4652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  <a:tabLst>
                <a:tab pos="586105" algn="l"/>
              </a:tabLst>
            </a:pPr>
            <a:r>
              <a:rPr dirty="0" sz="2550" spc="-409">
                <a:solidFill>
                  <a:srgbClr val="2DA344"/>
                </a:solidFill>
                <a:latin typeface="Arial MT"/>
                <a:cs typeface="Arial MT"/>
              </a:rPr>
              <a:t>@g</a:t>
            </a:r>
            <a:r>
              <a:rPr dirty="0" sz="2550">
                <a:solidFill>
                  <a:srgbClr val="2DA344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002F66"/>
                </a:solidFill>
                <a:latin typeface="Arial MT"/>
                <a:cs typeface="Arial MT"/>
              </a:rPr>
              <a:t>Case</a:t>
            </a:r>
            <a:r>
              <a:rPr dirty="0" sz="2550" spc="-85">
                <a:solidFill>
                  <a:srgbClr val="002F66"/>
                </a:solidFill>
                <a:latin typeface="Arial MT"/>
                <a:cs typeface="Arial MT"/>
              </a:rPr>
              <a:t> </a:t>
            </a:r>
            <a:r>
              <a:rPr dirty="0" sz="2550" spc="90">
                <a:solidFill>
                  <a:srgbClr val="003470"/>
                </a:solidFill>
                <a:latin typeface="Arial MT"/>
                <a:cs typeface="Arial MT"/>
              </a:rPr>
              <a:t>B:</a:t>
            </a:r>
            <a:r>
              <a:rPr dirty="0" sz="2550" spc="-290">
                <a:solidFill>
                  <a:srgbClr val="003470"/>
                </a:solidFill>
                <a:latin typeface="Arial MT"/>
                <a:cs typeface="Arial MT"/>
              </a:rPr>
              <a:t> </a:t>
            </a:r>
            <a:r>
              <a:rPr dirty="0" sz="2550" spc="65">
                <a:solidFill>
                  <a:srgbClr val="033464"/>
                </a:solidFill>
                <a:latin typeface="Arial MT"/>
                <a:cs typeface="Arial MT"/>
              </a:rPr>
              <a:t>Tech</a:t>
            </a:r>
            <a:r>
              <a:rPr dirty="0" sz="2550" spc="-120">
                <a:solidFill>
                  <a:srgbClr val="033464"/>
                </a:solidFill>
                <a:latin typeface="Arial MT"/>
                <a:cs typeface="Arial MT"/>
              </a:rPr>
              <a:t> </a:t>
            </a:r>
            <a:r>
              <a:rPr dirty="0" sz="2550" spc="110">
                <a:solidFill>
                  <a:srgbClr val="00346B"/>
                </a:solidFill>
                <a:latin typeface="Arial MT"/>
                <a:cs typeface="Arial MT"/>
              </a:rPr>
              <a:t>Firm</a:t>
            </a:r>
            <a:r>
              <a:rPr dirty="0" sz="2550" spc="-10">
                <a:solidFill>
                  <a:srgbClr val="00346B"/>
                </a:solidFill>
                <a:latin typeface="Arial MT"/>
                <a:cs typeface="Arial MT"/>
              </a:rPr>
              <a:t> </a:t>
            </a:r>
            <a:r>
              <a:rPr dirty="0" sz="2550" spc="120">
                <a:solidFill>
                  <a:srgbClr val="053675"/>
                </a:solidFill>
                <a:latin typeface="Arial MT"/>
                <a:cs typeface="Arial MT"/>
              </a:rPr>
              <a:t>(After</a:t>
            </a:r>
            <a:r>
              <a:rPr dirty="0" sz="2550" spc="30">
                <a:solidFill>
                  <a:srgbClr val="053675"/>
                </a:solidFill>
                <a:latin typeface="Arial MT"/>
                <a:cs typeface="Arial MT"/>
              </a:rPr>
              <a:t> </a:t>
            </a:r>
            <a:r>
              <a:rPr dirty="0" sz="2550" spc="90">
                <a:solidFill>
                  <a:srgbClr val="003364"/>
                </a:solidFill>
                <a:latin typeface="Arial MT"/>
                <a:cs typeface="Arial MT"/>
              </a:rPr>
              <a:t>Implementation)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550">
              <a:latin typeface="Arial MT"/>
              <a:cs typeface="Arial MT"/>
            </a:endParaRPr>
          </a:p>
          <a:p>
            <a:pPr marL="436245" marR="5080" indent="-415290">
              <a:lnSpc>
                <a:spcPct val="135900"/>
              </a:lnSpc>
            </a:pPr>
            <a:r>
              <a:rPr dirty="0" sz="2200" spc="155">
                <a:solidFill>
                  <a:srgbClr val="2DA541"/>
                </a:solidFill>
                <a:latin typeface="Arial MT"/>
                <a:cs typeface="Arial MT"/>
              </a:rPr>
              <a:t>@</a:t>
            </a:r>
            <a:r>
              <a:rPr dirty="0" sz="2200" spc="150">
                <a:solidFill>
                  <a:srgbClr val="2DA541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545454"/>
                </a:solidFill>
                <a:latin typeface="Arial MT"/>
                <a:cs typeface="Arial MT"/>
              </a:rPr>
              <a:t>Perimeter</a:t>
            </a:r>
            <a:r>
              <a:rPr dirty="0" sz="2200" spc="9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45454"/>
                </a:solidFill>
                <a:latin typeface="Arial MT"/>
                <a:cs typeface="Arial MT"/>
              </a:rPr>
              <a:t>Security:</a:t>
            </a:r>
            <a:r>
              <a:rPr dirty="0" sz="2200" spc="-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5959"/>
                </a:solidFill>
                <a:latin typeface="Arial MT"/>
                <a:cs typeface="Arial MT"/>
              </a:rPr>
              <a:t>Configured</a:t>
            </a:r>
            <a:r>
              <a:rPr dirty="0" sz="2200" spc="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 spc="-100">
                <a:solidFill>
                  <a:srgbClr val="595959"/>
                </a:solidFill>
                <a:latin typeface="Arial MT"/>
                <a:cs typeface="Arial MT"/>
              </a:rPr>
              <a:t>VPN</a:t>
            </a:r>
            <a:r>
              <a:rPr dirty="0" sz="220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2200" spc="-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5D5D5D"/>
                </a:solidFill>
                <a:latin typeface="Arial MT"/>
                <a:cs typeface="Arial MT"/>
              </a:rPr>
              <a:t>MFA</a:t>
            </a:r>
            <a:r>
              <a:rPr dirty="0" sz="2200" spc="9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B5B5B"/>
                </a:solidFill>
                <a:latin typeface="Arial MT"/>
                <a:cs typeface="Arial MT"/>
              </a:rPr>
              <a:t>for</a:t>
            </a:r>
            <a:r>
              <a:rPr dirty="0" sz="2200" spc="-6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95959"/>
                </a:solidFill>
                <a:latin typeface="Arial MT"/>
                <a:cs typeface="Arial MT"/>
              </a:rPr>
              <a:t>remote </a:t>
            </a:r>
            <a:r>
              <a:rPr dirty="0" sz="2200" spc="-10">
                <a:solidFill>
                  <a:srgbClr val="5B5B5B"/>
                </a:solidFill>
                <a:latin typeface="Arial MT"/>
                <a:cs typeface="Arial MT"/>
              </a:rPr>
              <a:t>workers.</a:t>
            </a:r>
            <a:endParaRPr sz="22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2430"/>
              </a:spcBef>
            </a:pPr>
            <a:r>
              <a:rPr dirty="0" sz="2200" spc="155">
                <a:solidFill>
                  <a:srgbClr val="2FA342"/>
                </a:solidFill>
                <a:latin typeface="Arial MT"/>
                <a:cs typeface="Arial MT"/>
              </a:rPr>
              <a:t>@</a:t>
            </a:r>
            <a:r>
              <a:rPr dirty="0" sz="2200" spc="195">
                <a:solidFill>
                  <a:srgbClr val="2FA34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D5D5D"/>
                </a:solidFill>
                <a:latin typeface="Arial MT"/>
                <a:cs typeface="Arial MT"/>
              </a:rPr>
              <a:t>Endpoint</a:t>
            </a:r>
            <a:r>
              <a:rPr dirty="0" sz="2200" spc="8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95959"/>
                </a:solidFill>
                <a:latin typeface="Arial MT"/>
                <a:cs typeface="Arial MT"/>
              </a:rPr>
              <a:t>Protection: </a:t>
            </a:r>
            <a:r>
              <a:rPr dirty="0" sz="2200">
                <a:solidFill>
                  <a:srgbClr val="545454"/>
                </a:solidFill>
                <a:latin typeface="Arial MT"/>
                <a:cs typeface="Arial MT"/>
              </a:rPr>
              <a:t>Installed</a:t>
            </a:r>
            <a:r>
              <a:rPr dirty="0" sz="2200" spc="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00" spc="-254">
                <a:solidFill>
                  <a:srgbClr val="5B5B5B"/>
                </a:solidFill>
                <a:latin typeface="Arial MT"/>
                <a:cs typeface="Arial MT"/>
              </a:rPr>
              <a:t>EDR</a:t>
            </a:r>
            <a:r>
              <a:rPr dirty="0" sz="2200" spc="12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D5D5D"/>
                </a:solidFill>
                <a:latin typeface="Arial MT"/>
                <a:cs typeface="Arial MT"/>
              </a:rPr>
              <a:t>on</a:t>
            </a:r>
            <a:r>
              <a:rPr dirty="0" sz="2200" spc="-3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606060"/>
                </a:solidFill>
                <a:latin typeface="Arial MT"/>
                <a:cs typeface="Arial MT"/>
              </a:rPr>
              <a:t>all</a:t>
            </a:r>
            <a:r>
              <a:rPr dirty="0" sz="2200" spc="-1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D5D5D"/>
                </a:solidFill>
                <a:latin typeface="Arial MT"/>
                <a:cs typeface="Arial MT"/>
              </a:rPr>
              <a:t>workstations.</a:t>
            </a:r>
            <a:endParaRPr sz="2200">
              <a:latin typeface="Arial MT"/>
              <a:cs typeface="Arial MT"/>
            </a:endParaRPr>
          </a:p>
          <a:p>
            <a:pPr marL="431800" marR="656590" indent="-419734">
              <a:lnSpc>
                <a:spcPct val="129900"/>
              </a:lnSpc>
              <a:spcBef>
                <a:spcPts val="1380"/>
              </a:spcBef>
              <a:tabLst>
                <a:tab pos="420370" algn="l"/>
              </a:tabLst>
            </a:pPr>
            <a:r>
              <a:rPr dirty="0" sz="2300" spc="-50">
                <a:solidFill>
                  <a:srgbClr val="2FA342"/>
                </a:solidFill>
                <a:latin typeface="Calibri"/>
                <a:cs typeface="Calibri"/>
              </a:rPr>
              <a:t>@</a:t>
            </a:r>
            <a:r>
              <a:rPr dirty="0" sz="2300">
                <a:solidFill>
                  <a:srgbClr val="2FA342"/>
                </a:solidFill>
                <a:latin typeface="Calibri"/>
                <a:cs typeface="Calibri"/>
              </a:rPr>
              <a:t>	</a:t>
            </a:r>
            <a:r>
              <a:rPr dirty="0" sz="2300" spc="105">
                <a:solidFill>
                  <a:srgbClr val="595959"/>
                </a:solidFill>
                <a:latin typeface="Calibri"/>
                <a:cs typeface="Calibri"/>
              </a:rPr>
              <a:t>Policies:</a:t>
            </a:r>
            <a:r>
              <a:rPr dirty="0" sz="2300" spc="9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65656"/>
                </a:solidFill>
                <a:latin typeface="Calibri"/>
                <a:cs typeface="Calibri"/>
              </a:rPr>
              <a:t>Enforced</a:t>
            </a:r>
            <a:r>
              <a:rPr dirty="0" sz="2300" spc="10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2300" spc="60">
                <a:solidFill>
                  <a:srgbClr val="565656"/>
                </a:solidFill>
                <a:latin typeface="Calibri"/>
                <a:cs typeface="Calibri"/>
              </a:rPr>
              <a:t>password</a:t>
            </a:r>
            <a:r>
              <a:rPr dirty="0" sz="2300" spc="10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95959"/>
                </a:solidFill>
                <a:latin typeface="Calibri"/>
                <a:cs typeface="Calibri"/>
              </a:rPr>
              <a:t>rotation</a:t>
            </a:r>
            <a:r>
              <a:rPr dirty="0" sz="2300" spc="2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D5D5D"/>
                </a:solidFill>
                <a:latin typeface="Calibri"/>
                <a:cs typeface="Calibri"/>
              </a:rPr>
              <a:t>and</a:t>
            </a:r>
            <a:r>
              <a:rPr dirty="0" sz="2300" spc="-1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B5B5B"/>
                </a:solidFill>
                <a:latin typeface="Calibri"/>
                <a:cs typeface="Calibri"/>
              </a:rPr>
              <a:t>role-</a:t>
            </a:r>
            <a:r>
              <a:rPr dirty="0" sz="2300" spc="-10">
                <a:solidFill>
                  <a:srgbClr val="5B5B5B"/>
                </a:solidFill>
                <a:latin typeface="Calibri"/>
                <a:cs typeface="Calibri"/>
              </a:rPr>
              <a:t>based </a:t>
            </a:r>
            <a:r>
              <a:rPr dirty="0" sz="2300" spc="95">
                <a:solidFill>
                  <a:srgbClr val="494949"/>
                </a:solidFill>
                <a:latin typeface="Calibri"/>
                <a:cs typeface="Calibri"/>
              </a:rPr>
              <a:t>access.</a:t>
            </a:r>
            <a:endParaRPr sz="2300">
              <a:latin typeface="Calibri"/>
              <a:cs typeface="Calibri"/>
            </a:endParaRPr>
          </a:p>
          <a:p>
            <a:pPr marL="422909" marR="189230" indent="-410845">
              <a:lnSpc>
                <a:spcPct val="129900"/>
              </a:lnSpc>
              <a:spcBef>
                <a:spcPts val="1485"/>
              </a:spcBef>
            </a:pPr>
            <a:r>
              <a:rPr dirty="0" sz="2300" spc="245">
                <a:solidFill>
                  <a:srgbClr val="2BA349"/>
                </a:solidFill>
                <a:latin typeface="Calibri"/>
                <a:cs typeface="Calibri"/>
              </a:rPr>
              <a:t>@</a:t>
            </a:r>
            <a:r>
              <a:rPr dirty="0" sz="2300" spc="484">
                <a:solidFill>
                  <a:srgbClr val="2BA34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65656"/>
                </a:solidFill>
                <a:latin typeface="Calibri"/>
                <a:cs typeface="Calibri"/>
              </a:rPr>
              <a:t>Outcome:</a:t>
            </a:r>
            <a:r>
              <a:rPr dirty="0" sz="2300" spc="24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2300" spc="55">
                <a:solidFill>
                  <a:srgbClr val="595959"/>
                </a:solidFill>
                <a:latin typeface="Calibri"/>
                <a:cs typeface="Calibri"/>
              </a:rPr>
              <a:t>Threats</a:t>
            </a:r>
            <a:r>
              <a:rPr dirty="0" sz="2300" spc="15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65656"/>
                </a:solidFill>
                <a:latin typeface="Calibri"/>
                <a:cs typeface="Calibri"/>
              </a:rPr>
              <a:t>contained.</a:t>
            </a:r>
            <a:r>
              <a:rPr dirty="0" sz="2300" spc="18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65656"/>
                </a:solidFill>
                <a:latin typeface="Calibri"/>
                <a:cs typeface="Calibri"/>
              </a:rPr>
              <a:t>Evaluation</a:t>
            </a:r>
            <a:r>
              <a:rPr dirty="0" sz="2300" spc="254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2300" spc="75">
                <a:solidFill>
                  <a:srgbClr val="575757"/>
                </a:solidFill>
                <a:latin typeface="Calibri"/>
                <a:cs typeface="Calibri"/>
              </a:rPr>
              <a:t>shows</a:t>
            </a:r>
            <a:r>
              <a:rPr dirty="0" sz="2300" spc="135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D5D5D"/>
                </a:solidFill>
                <a:latin typeface="Calibri"/>
                <a:cs typeface="Calibri"/>
              </a:rPr>
              <a:t>90%</a:t>
            </a:r>
            <a:r>
              <a:rPr dirty="0" sz="2300" spc="2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575757"/>
                </a:solidFill>
                <a:latin typeface="Calibri"/>
                <a:cs typeface="Calibri"/>
              </a:rPr>
              <a:t>risk </a:t>
            </a:r>
            <a:r>
              <a:rPr dirty="0" sz="2300">
                <a:solidFill>
                  <a:srgbClr val="575757"/>
                </a:solidFill>
                <a:latin typeface="Calibri"/>
                <a:cs typeface="Calibri"/>
              </a:rPr>
              <a:t>reduction.</a:t>
            </a:r>
            <a:r>
              <a:rPr dirty="0" sz="2300" spc="19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545454"/>
                </a:solidFill>
                <a:latin typeface="Calibri"/>
                <a:cs typeface="Calibri"/>
              </a:rPr>
              <a:t>Risk</a:t>
            </a:r>
            <a:r>
              <a:rPr dirty="0" sz="2300" spc="-5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2300" spc="50">
                <a:solidFill>
                  <a:srgbClr val="565656"/>
                </a:solidFill>
                <a:latin typeface="Calibri"/>
                <a:cs typeface="Calibri"/>
              </a:rPr>
              <a:t>Score:</a:t>
            </a:r>
            <a:r>
              <a:rPr dirty="0" sz="2300" spc="-95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dirty="0" sz="2300" spc="55">
                <a:solidFill>
                  <a:srgbClr val="565656"/>
                </a:solidFill>
                <a:latin typeface="Calibri"/>
                <a:cs typeface="Calibri"/>
              </a:rPr>
              <a:t>Low/Acceptable.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88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14"/>
              </a:spcBef>
            </a:pPr>
            <a:r>
              <a:rPr dirty="0" spc="55">
                <a:solidFill>
                  <a:srgbClr val="003466"/>
                </a:solidFill>
              </a:rPr>
              <a:t>flfl</a:t>
            </a:r>
            <a:r>
              <a:rPr dirty="0" spc="30">
                <a:solidFill>
                  <a:srgbClr val="003466"/>
                </a:solidFill>
              </a:rPr>
              <a:t> </a:t>
            </a:r>
            <a:r>
              <a:rPr dirty="0" spc="210">
                <a:solidFill>
                  <a:srgbClr val="003467"/>
                </a:solidFill>
              </a:rPr>
              <a:t>5.</a:t>
            </a:r>
            <a:r>
              <a:rPr dirty="0" spc="-75">
                <a:solidFill>
                  <a:srgbClr val="003467"/>
                </a:solidFill>
              </a:rPr>
              <a:t> </a:t>
            </a:r>
            <a:r>
              <a:rPr dirty="0" spc="420"/>
              <a:t>Conclusion</a:t>
            </a:r>
            <a:r>
              <a:rPr dirty="0" spc="380"/>
              <a:t> </a:t>
            </a:r>
            <a:r>
              <a:rPr dirty="0">
                <a:solidFill>
                  <a:srgbClr val="00336B"/>
                </a:solidFill>
              </a:rPr>
              <a:t>&amp;</a:t>
            </a:r>
            <a:r>
              <a:rPr dirty="0" spc="245">
                <a:solidFill>
                  <a:srgbClr val="00336B"/>
                </a:solidFill>
              </a:rPr>
              <a:t> </a:t>
            </a:r>
            <a:r>
              <a:rPr dirty="0" spc="515">
                <a:solidFill>
                  <a:srgbClr val="033362"/>
                </a:solidFill>
              </a:rPr>
              <a:t>Best</a:t>
            </a:r>
            <a:r>
              <a:rPr dirty="0" spc="210">
                <a:solidFill>
                  <a:srgbClr val="033362"/>
                </a:solidFill>
              </a:rPr>
              <a:t> </a:t>
            </a:r>
            <a:r>
              <a:rPr dirty="0" spc="370">
                <a:solidFill>
                  <a:srgbClr val="003175"/>
                </a:solidFill>
              </a:rPr>
              <a:t>Practices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pc="95"/>
              <a:t>Project</a:t>
            </a:r>
            <a:r>
              <a:rPr dirty="0" spc="135"/>
              <a:t> </a:t>
            </a:r>
            <a:r>
              <a:rPr dirty="0" spc="95">
                <a:solidFill>
                  <a:srgbClr val="00346E"/>
                </a:solidFill>
              </a:rPr>
              <a:t>Findings</a:t>
            </a:r>
          </a:p>
          <a:p>
            <a:pPr algn="ctr" marL="1905" marR="5080" indent="-8890">
              <a:lnSpc>
                <a:spcPct val="129299"/>
              </a:lnSpc>
              <a:spcBef>
                <a:spcPts val="1970"/>
              </a:spcBef>
            </a:pPr>
            <a:r>
              <a:rPr dirty="0" sz="2550" spc="-175">
                <a:solidFill>
                  <a:srgbClr val="5B5B5B"/>
                </a:solidFill>
              </a:rPr>
              <a:t>SMEs</a:t>
            </a:r>
            <a:r>
              <a:rPr dirty="0" sz="2550" spc="-15">
                <a:solidFill>
                  <a:srgbClr val="5B5B5B"/>
                </a:solidFill>
              </a:rPr>
              <a:t> </a:t>
            </a:r>
            <a:r>
              <a:rPr dirty="0" sz="2550" spc="-20">
                <a:solidFill>
                  <a:srgbClr val="5E5E5E"/>
                </a:solidFill>
              </a:rPr>
              <a:t>are</a:t>
            </a:r>
            <a:r>
              <a:rPr dirty="0" sz="2550" spc="-160">
                <a:solidFill>
                  <a:srgbClr val="5E5E5E"/>
                </a:solidFill>
              </a:rPr>
              <a:t> </a:t>
            </a:r>
            <a:r>
              <a:rPr dirty="0" sz="2550" spc="-40">
                <a:solidFill>
                  <a:srgbClr val="494949"/>
                </a:solidFill>
              </a:rPr>
              <a:t>vulnerable </a:t>
            </a:r>
            <a:r>
              <a:rPr dirty="0" sz="2550">
                <a:solidFill>
                  <a:srgbClr val="565656"/>
                </a:solidFill>
              </a:rPr>
              <a:t>primarily</a:t>
            </a:r>
            <a:r>
              <a:rPr dirty="0" sz="2550" spc="-100">
                <a:solidFill>
                  <a:srgbClr val="565656"/>
                </a:solidFill>
              </a:rPr>
              <a:t> </a:t>
            </a:r>
            <a:r>
              <a:rPr dirty="0" sz="2550" spc="-95">
                <a:solidFill>
                  <a:srgbClr val="5D5D5D"/>
                </a:solidFill>
              </a:rPr>
              <a:t>due</a:t>
            </a:r>
            <a:r>
              <a:rPr dirty="0" sz="2550" spc="-80">
                <a:solidFill>
                  <a:srgbClr val="5D5D5D"/>
                </a:solidFill>
              </a:rPr>
              <a:t> </a:t>
            </a:r>
            <a:r>
              <a:rPr dirty="0" sz="2550" spc="70">
                <a:solidFill>
                  <a:srgbClr val="5B5B5B"/>
                </a:solidFill>
              </a:rPr>
              <a:t>to</a:t>
            </a:r>
            <a:r>
              <a:rPr dirty="0" sz="2550" spc="-18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lack</a:t>
            </a:r>
            <a:r>
              <a:rPr dirty="0" sz="2550" spc="-11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of</a:t>
            </a:r>
            <a:r>
              <a:rPr dirty="0" sz="2550" spc="-85">
                <a:solidFill>
                  <a:srgbClr val="5B5B5B"/>
                </a:solidFill>
              </a:rPr>
              <a:t> </a:t>
            </a:r>
            <a:r>
              <a:rPr dirty="0" sz="2550" spc="-25">
                <a:solidFill>
                  <a:srgbClr val="494949"/>
                </a:solidFill>
              </a:rPr>
              <a:t>budget</a:t>
            </a:r>
            <a:r>
              <a:rPr dirty="0" sz="2550" spc="30">
                <a:solidFill>
                  <a:srgbClr val="494949"/>
                </a:solidFill>
              </a:rPr>
              <a:t> </a:t>
            </a:r>
            <a:r>
              <a:rPr dirty="0" sz="2550" spc="-50">
                <a:solidFill>
                  <a:srgbClr val="646464"/>
                </a:solidFill>
              </a:rPr>
              <a:t>and</a:t>
            </a:r>
            <a:r>
              <a:rPr dirty="0" sz="2550" spc="-130">
                <a:solidFill>
                  <a:srgbClr val="646464"/>
                </a:solidFill>
              </a:rPr>
              <a:t> </a:t>
            </a:r>
            <a:r>
              <a:rPr dirty="0" sz="2550" spc="-30">
                <a:solidFill>
                  <a:srgbClr val="5B5B5B"/>
                </a:solidFill>
              </a:rPr>
              <a:t>expertise,</a:t>
            </a:r>
            <a:r>
              <a:rPr dirty="0" sz="2550" spc="-8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not</a:t>
            </a:r>
            <a:r>
              <a:rPr dirty="0" sz="2550" spc="-45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95959"/>
                </a:solidFill>
              </a:rPr>
              <a:t>lack</a:t>
            </a:r>
            <a:r>
              <a:rPr dirty="0" sz="2550" spc="-110">
                <a:solidFill>
                  <a:srgbClr val="595959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of</a:t>
            </a:r>
            <a:r>
              <a:rPr dirty="0" sz="2550" spc="-135">
                <a:solidFill>
                  <a:srgbClr val="5B5B5B"/>
                </a:solidFill>
              </a:rPr>
              <a:t> </a:t>
            </a:r>
            <a:r>
              <a:rPr dirty="0" sz="2550" spc="-50">
                <a:solidFill>
                  <a:srgbClr val="595959"/>
                </a:solidFill>
              </a:rPr>
              <a:t>technology.</a:t>
            </a:r>
            <a:r>
              <a:rPr dirty="0" sz="2550" spc="100">
                <a:solidFill>
                  <a:srgbClr val="595959"/>
                </a:solidFill>
              </a:rPr>
              <a:t> </a:t>
            </a:r>
            <a:r>
              <a:rPr dirty="0" sz="2550" spc="-325">
                <a:solidFill>
                  <a:srgbClr val="606974"/>
                </a:solidFill>
              </a:rPr>
              <a:t>A </a:t>
            </a:r>
            <a:r>
              <a:rPr dirty="0" sz="2550">
                <a:solidFill>
                  <a:srgbClr val="545454"/>
                </a:solidFill>
              </a:rPr>
              <a:t>structured</a:t>
            </a:r>
            <a:r>
              <a:rPr dirty="0" sz="2550" spc="-180">
                <a:solidFill>
                  <a:srgbClr val="545454"/>
                </a:solidFill>
              </a:rPr>
              <a:t> </a:t>
            </a:r>
            <a:r>
              <a:rPr dirty="0" sz="2550">
                <a:solidFill>
                  <a:srgbClr val="565656"/>
                </a:solidFill>
              </a:rPr>
              <a:t>framework</a:t>
            </a:r>
            <a:r>
              <a:rPr dirty="0" sz="2550" spc="-15">
                <a:solidFill>
                  <a:srgbClr val="565656"/>
                </a:solidFill>
              </a:rPr>
              <a:t> </a:t>
            </a:r>
            <a:r>
              <a:rPr dirty="0" sz="2550" spc="-95">
                <a:solidFill>
                  <a:srgbClr val="545454"/>
                </a:solidFill>
              </a:rPr>
              <a:t>(NIST)</a:t>
            </a:r>
            <a:r>
              <a:rPr dirty="0" sz="2550" spc="75">
                <a:solidFill>
                  <a:srgbClr val="545454"/>
                </a:solidFill>
              </a:rPr>
              <a:t> </a:t>
            </a:r>
            <a:r>
              <a:rPr dirty="0" sz="2550" spc="-20">
                <a:solidFill>
                  <a:srgbClr val="494949"/>
                </a:solidFill>
              </a:rPr>
              <a:t>combined</a:t>
            </a:r>
            <a:r>
              <a:rPr dirty="0" sz="2550" spc="-25">
                <a:solidFill>
                  <a:srgbClr val="494949"/>
                </a:solidFill>
              </a:rPr>
              <a:t> </a:t>
            </a:r>
            <a:r>
              <a:rPr dirty="0" sz="2550">
                <a:solidFill>
                  <a:srgbClr val="606060"/>
                </a:solidFill>
              </a:rPr>
              <a:t>with</a:t>
            </a:r>
            <a:r>
              <a:rPr dirty="0" sz="2550" spc="-175">
                <a:solidFill>
                  <a:srgbClr val="606060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practical</a:t>
            </a:r>
            <a:r>
              <a:rPr dirty="0" sz="2550" spc="-8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B5B5B"/>
                </a:solidFill>
              </a:rPr>
              <a:t>tools</a:t>
            </a:r>
            <a:r>
              <a:rPr dirty="0" sz="2550" spc="-175">
                <a:solidFill>
                  <a:srgbClr val="5B5B5B"/>
                </a:solidFill>
              </a:rPr>
              <a:t> </a:t>
            </a:r>
            <a:r>
              <a:rPr dirty="0" sz="2550" spc="-175">
                <a:solidFill>
                  <a:srgbClr val="5D5D5D"/>
                </a:solidFill>
              </a:rPr>
              <a:t>(MFA,</a:t>
            </a:r>
            <a:r>
              <a:rPr dirty="0" sz="2550" spc="-40">
                <a:solidFill>
                  <a:srgbClr val="5D5D5D"/>
                </a:solidFill>
              </a:rPr>
              <a:t> </a:t>
            </a:r>
            <a:r>
              <a:rPr dirty="0" sz="2550" spc="-70">
                <a:solidFill>
                  <a:srgbClr val="5B5B5B"/>
                </a:solidFill>
              </a:rPr>
              <a:t>Backups)</a:t>
            </a:r>
            <a:r>
              <a:rPr dirty="0" sz="2550" spc="160">
                <a:solidFill>
                  <a:srgbClr val="5B5B5B"/>
                </a:solidFill>
              </a:rPr>
              <a:t> </a:t>
            </a:r>
            <a:r>
              <a:rPr dirty="0" sz="2550">
                <a:solidFill>
                  <a:srgbClr val="575757"/>
                </a:solidFill>
              </a:rPr>
              <a:t>effectively</a:t>
            </a:r>
            <a:r>
              <a:rPr dirty="0" sz="2550" spc="45">
                <a:solidFill>
                  <a:srgbClr val="575757"/>
                </a:solidFill>
              </a:rPr>
              <a:t> </a:t>
            </a:r>
            <a:r>
              <a:rPr dirty="0" sz="2550" spc="-10">
                <a:solidFill>
                  <a:srgbClr val="575757"/>
                </a:solidFill>
              </a:rPr>
              <a:t>lowers </a:t>
            </a:r>
            <a:r>
              <a:rPr dirty="0" sz="2550">
                <a:solidFill>
                  <a:srgbClr val="5D5D5D"/>
                </a:solidFill>
              </a:rPr>
              <a:t>the</a:t>
            </a:r>
            <a:r>
              <a:rPr dirty="0" sz="2550" spc="-40">
                <a:solidFill>
                  <a:srgbClr val="5D5D5D"/>
                </a:solidFill>
              </a:rPr>
              <a:t> </a:t>
            </a:r>
            <a:r>
              <a:rPr dirty="0" sz="2550">
                <a:solidFill>
                  <a:srgbClr val="5D5D5D"/>
                </a:solidFill>
              </a:rPr>
              <a:t>risk</a:t>
            </a:r>
            <a:r>
              <a:rPr dirty="0" sz="2550" spc="-65">
                <a:solidFill>
                  <a:srgbClr val="5D5D5D"/>
                </a:solidFill>
              </a:rPr>
              <a:t> </a:t>
            </a:r>
            <a:r>
              <a:rPr dirty="0" sz="2550" spc="-10">
                <a:solidFill>
                  <a:srgbClr val="545454"/>
                </a:solidFill>
              </a:rPr>
              <a:t>barrier.</a:t>
            </a:r>
            <a:endParaRPr sz="2550"/>
          </a:p>
        </p:txBody>
      </p:sp>
      <p:sp>
        <p:nvSpPr>
          <p:cNvPr id="5" name="object 5" descr=""/>
          <p:cNvSpPr txBox="1"/>
          <p:nvPr/>
        </p:nvSpPr>
        <p:spPr>
          <a:xfrm>
            <a:off x="2523132" y="8130376"/>
            <a:ext cx="291528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75">
                <a:solidFill>
                  <a:srgbClr val="00346D"/>
                </a:solidFill>
                <a:latin typeface="Arial MT"/>
                <a:cs typeface="Arial MT"/>
              </a:rPr>
              <a:t>Regular</a:t>
            </a:r>
            <a:r>
              <a:rPr dirty="0" sz="3200" spc="290">
                <a:solidFill>
                  <a:srgbClr val="00346D"/>
                </a:solidFill>
                <a:latin typeface="Arial MT"/>
                <a:cs typeface="Arial MT"/>
              </a:rPr>
              <a:t> </a:t>
            </a:r>
            <a:r>
              <a:rPr dirty="0" sz="3200" spc="120">
                <a:solidFill>
                  <a:srgbClr val="053867"/>
                </a:solidFill>
                <a:latin typeface="Arial MT"/>
                <a:cs typeface="Arial MT"/>
              </a:rPr>
              <a:t>Audits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07322" y="8130376"/>
            <a:ext cx="384238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125">
                <a:solidFill>
                  <a:srgbClr val="003869"/>
                </a:solidFill>
                <a:latin typeface="Arial MT"/>
                <a:cs typeface="Arial MT"/>
              </a:rPr>
              <a:t>Patch</a:t>
            </a:r>
            <a:r>
              <a:rPr dirty="0" sz="3200">
                <a:solidFill>
                  <a:srgbClr val="003869"/>
                </a:solidFill>
                <a:latin typeface="Arial MT"/>
                <a:cs typeface="Arial MT"/>
              </a:rPr>
              <a:t> </a:t>
            </a:r>
            <a:r>
              <a:rPr dirty="0" sz="3200" spc="130">
                <a:solidFill>
                  <a:srgbClr val="00285B"/>
                </a:solidFill>
                <a:latin typeface="Arial MT"/>
                <a:cs typeface="Arial MT"/>
              </a:rPr>
              <a:t>Management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01091" y="8998151"/>
            <a:ext cx="51333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575757"/>
                </a:solidFill>
                <a:latin typeface="Arial MT"/>
                <a:cs typeface="Arial MT"/>
              </a:rPr>
              <a:t>Conduct</a:t>
            </a:r>
            <a:r>
              <a:rPr dirty="0" sz="2450" spc="13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45454"/>
                </a:solidFill>
                <a:latin typeface="Arial MT"/>
                <a:cs typeface="Arial MT"/>
              </a:rPr>
              <a:t>vulnerability</a:t>
            </a:r>
            <a:r>
              <a:rPr dirty="0" sz="2450" spc="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75757"/>
                </a:solidFill>
                <a:latin typeface="Arial MT"/>
                <a:cs typeface="Arial MT"/>
              </a:rPr>
              <a:t>scans</a:t>
            </a:r>
            <a:r>
              <a:rPr dirty="0" sz="2450" spc="-3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545454"/>
                </a:solidFill>
                <a:latin typeface="Arial MT"/>
                <a:cs typeface="Arial MT"/>
              </a:rPr>
              <a:t>annually.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503235" y="8998151"/>
            <a:ext cx="507936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565656"/>
                </a:solidFill>
                <a:latin typeface="Arial MT"/>
                <a:cs typeface="Arial MT"/>
              </a:rPr>
              <a:t>Automate</a:t>
            </a:r>
            <a:r>
              <a:rPr dirty="0" sz="2450" spc="26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450" spc="-229">
                <a:solidFill>
                  <a:srgbClr val="595959"/>
                </a:solidFill>
                <a:latin typeface="Arial MT"/>
                <a:cs typeface="Arial MT"/>
              </a:rPr>
              <a:t>OS</a:t>
            </a:r>
            <a:r>
              <a:rPr dirty="0" sz="245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D5D5D"/>
                </a:solidFill>
                <a:latin typeface="Arial MT"/>
                <a:cs typeface="Arial MT"/>
              </a:rPr>
              <a:t>and</a:t>
            </a:r>
            <a:r>
              <a:rPr dirty="0" sz="2450" spc="9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65656"/>
                </a:solidFill>
                <a:latin typeface="Arial MT"/>
                <a:cs typeface="Arial MT"/>
              </a:rPr>
              <a:t>software</a:t>
            </a:r>
            <a:r>
              <a:rPr dirty="0" sz="2450" spc="2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F4F4F"/>
                </a:solidFill>
                <a:latin typeface="Arial MT"/>
                <a:cs typeface="Arial MT"/>
              </a:rPr>
              <a:t>updates.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557007" y="8146737"/>
            <a:ext cx="3122295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245">
                <a:solidFill>
                  <a:srgbClr val="0A3660"/>
                </a:solidFill>
                <a:latin typeface="Calibri"/>
                <a:cs typeface="Calibri"/>
              </a:rPr>
              <a:t>Security</a:t>
            </a:r>
            <a:r>
              <a:rPr dirty="0" sz="3100" spc="290">
                <a:solidFill>
                  <a:srgbClr val="0A3660"/>
                </a:solidFill>
                <a:latin typeface="Calibri"/>
                <a:cs typeface="Calibri"/>
              </a:rPr>
              <a:t> </a:t>
            </a:r>
            <a:r>
              <a:rPr dirty="0" sz="3100" spc="245">
                <a:solidFill>
                  <a:srgbClr val="003662"/>
                </a:solidFill>
                <a:latin typeface="Calibri"/>
                <a:cs typeface="Calibri"/>
              </a:rPr>
              <a:t>Culture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359077" y="8868574"/>
            <a:ext cx="3504565" cy="103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8355" marR="5080" indent="-796290">
              <a:lnSpc>
                <a:spcPct val="134600"/>
              </a:lnSpc>
              <a:spcBef>
                <a:spcPts val="100"/>
              </a:spcBef>
            </a:pPr>
            <a:r>
              <a:rPr dirty="0" sz="2450">
                <a:solidFill>
                  <a:srgbClr val="565656"/>
                </a:solidFill>
                <a:latin typeface="Arial MT"/>
                <a:cs typeface="Arial MT"/>
              </a:rPr>
              <a:t>Make</a:t>
            </a:r>
            <a:r>
              <a:rPr dirty="0" sz="2450" spc="1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25252"/>
                </a:solidFill>
                <a:latin typeface="Arial MT"/>
                <a:cs typeface="Arial MT"/>
              </a:rPr>
              <a:t>security</a:t>
            </a:r>
            <a:r>
              <a:rPr dirty="0" sz="2450" spc="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545454"/>
                </a:solidFill>
                <a:latin typeface="Arial MT"/>
                <a:cs typeface="Arial MT"/>
              </a:rPr>
              <a:t>everyone's </a:t>
            </a:r>
            <a:r>
              <a:rPr dirty="0" sz="2450" spc="-10">
                <a:solidFill>
                  <a:srgbClr val="525252"/>
                </a:solidFill>
                <a:latin typeface="Arial MT"/>
                <a:cs typeface="Arial MT"/>
              </a:rPr>
              <a:t>responsibility.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2025-12-04T18:32:12Z</dcterms:created>
  <dcterms:modified xsi:type="dcterms:W3CDTF">2025-12-04T18:32:12Z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