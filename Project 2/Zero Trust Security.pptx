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1068030"/>
            <a:ext cx="20080605" cy="542290"/>
          </a:xfrm>
          <a:custGeom>
            <a:avLst/>
            <a:gdLst/>
            <a:ahLst/>
            <a:cxnLst/>
            <a:rect l="l" t="t" r="r" b="b"/>
            <a:pathLst>
              <a:path w="20080605" h="542290">
                <a:moveTo>
                  <a:pt x="20080541" y="541868"/>
                </a:moveTo>
                <a:lnTo>
                  <a:pt x="0" y="54186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4186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973700"/>
            <a:ext cx="20088393" cy="91096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5706" y="5528627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966" y="138473"/>
            <a:ext cx="13154488" cy="1608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4019" y="5411873"/>
            <a:ext cx="13086080" cy="5556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36035" algn="l"/>
              </a:tabLst>
            </a:pPr>
            <a:r>
              <a:rPr dirty="0" sz="3450" spc="-280">
                <a:solidFill>
                  <a:srgbClr val="8C9CAF"/>
                </a:solidFill>
              </a:rPr>
              <a:t>A</a:t>
            </a:r>
            <a:r>
              <a:rPr dirty="0" sz="3450" spc="275">
                <a:solidFill>
                  <a:srgbClr val="8C9CAF"/>
                </a:solidFill>
              </a:rPr>
              <a:t> </a:t>
            </a:r>
            <a:r>
              <a:rPr dirty="0" sz="3450" spc="75">
                <a:solidFill>
                  <a:srgbClr val="8EA0B1"/>
                </a:solidFill>
              </a:rPr>
              <a:t>Comprehensive</a:t>
            </a:r>
            <a:r>
              <a:rPr dirty="0" sz="3450">
                <a:solidFill>
                  <a:srgbClr val="8EA0B1"/>
                </a:solidFill>
              </a:rPr>
              <a:t>	</a:t>
            </a:r>
            <a:r>
              <a:rPr dirty="0" sz="3450" spc="50">
                <a:solidFill>
                  <a:srgbClr val="93A1B3"/>
                </a:solidFill>
              </a:rPr>
              <a:t>Guide</a:t>
            </a:r>
            <a:r>
              <a:rPr dirty="0" sz="3450" spc="165">
                <a:solidFill>
                  <a:srgbClr val="93A1B3"/>
                </a:solidFill>
              </a:rPr>
              <a:t> </a:t>
            </a:r>
            <a:r>
              <a:rPr dirty="0" sz="3450" spc="65">
                <a:solidFill>
                  <a:srgbClr val="8793A5"/>
                </a:solidFill>
              </a:rPr>
              <a:t>to</a:t>
            </a:r>
            <a:r>
              <a:rPr dirty="0" sz="3450" spc="250">
                <a:solidFill>
                  <a:srgbClr val="8793A5"/>
                </a:solidFill>
              </a:rPr>
              <a:t> </a:t>
            </a:r>
            <a:r>
              <a:rPr dirty="0" sz="3450" spc="70">
                <a:solidFill>
                  <a:srgbClr val="919EAF"/>
                </a:solidFill>
              </a:rPr>
              <a:t>Enterprise</a:t>
            </a:r>
            <a:r>
              <a:rPr dirty="0" sz="3450" spc="445">
                <a:solidFill>
                  <a:srgbClr val="919EAF"/>
                </a:solidFill>
              </a:rPr>
              <a:t> </a:t>
            </a:r>
            <a:r>
              <a:rPr dirty="0" sz="3450" spc="75">
                <a:solidFill>
                  <a:srgbClr val="95A1B8"/>
                </a:solidFill>
              </a:rPr>
              <a:t>Security</a:t>
            </a:r>
            <a:r>
              <a:rPr dirty="0" sz="3450" spc="475">
                <a:solidFill>
                  <a:srgbClr val="95A1B8"/>
                </a:solidFill>
              </a:rPr>
              <a:t> </a:t>
            </a:r>
            <a:r>
              <a:rPr dirty="0" sz="3450" spc="114">
                <a:solidFill>
                  <a:srgbClr val="95A0B1"/>
                </a:solidFill>
              </a:rPr>
              <a:t>Implementation</a:t>
            </a:r>
            <a:endParaRPr sz="3450"/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6847958"/>
            <a:ext cx="20088860" cy="659765"/>
            <a:chOff x="15706" y="6847958"/>
            <a:chExt cx="20088860" cy="6597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6847958"/>
              <a:ext cx="20088393" cy="65966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6847958"/>
              <a:ext cx="20088393" cy="6596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068030"/>
            <a:ext cx="20080605" cy="668020"/>
          </a:xfrm>
          <a:custGeom>
            <a:avLst/>
            <a:gdLst/>
            <a:ahLst/>
            <a:cxnLst/>
            <a:rect l="l" t="t" r="r" b="b"/>
            <a:pathLst>
              <a:path w="20080605" h="668019">
                <a:moveTo>
                  <a:pt x="20080541" y="667518"/>
                </a:moveTo>
                <a:lnTo>
                  <a:pt x="0" y="66751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6751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3142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 spc="130">
                <a:latin typeface="Calibri"/>
                <a:cs typeface="Calibri"/>
              </a:rPr>
              <a:t>Core</a:t>
            </a:r>
            <a:r>
              <a:rPr dirty="0" spc="-305">
                <a:latin typeface="Calibri"/>
                <a:cs typeface="Calibri"/>
              </a:rPr>
              <a:t> </a:t>
            </a:r>
            <a:r>
              <a:rPr dirty="0" spc="80">
                <a:latin typeface="Calibri"/>
                <a:cs typeface="Calibri"/>
              </a:rPr>
              <a:t>Principles:</a:t>
            </a:r>
            <a:r>
              <a:rPr dirty="0" spc="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Never</a:t>
            </a:r>
            <a:r>
              <a:rPr dirty="0" spc="21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Trust,</a:t>
            </a:r>
            <a:r>
              <a:rPr dirty="0" spc="-10">
                <a:latin typeface="Calibri"/>
                <a:cs typeface="Calibri"/>
              </a:rPr>
              <a:t> </a:t>
            </a:r>
            <a:r>
              <a:rPr dirty="0" spc="185">
                <a:latin typeface="Calibri"/>
                <a:cs typeface="Calibri"/>
              </a:rPr>
              <a:t>Always</a:t>
            </a:r>
            <a:r>
              <a:rPr dirty="0" spc="-10">
                <a:latin typeface="Calibri"/>
                <a:cs typeface="Calibri"/>
              </a:rPr>
              <a:t> Verify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3659574"/>
            <a:ext cx="20088860" cy="785495"/>
            <a:chOff x="15706" y="3659574"/>
            <a:chExt cx="20088860" cy="785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3659574"/>
              <a:ext cx="20088393" cy="7853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3659574"/>
              <a:ext cx="20088393" cy="785316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15706" y="5214501"/>
            <a:ext cx="20088860" cy="393065"/>
            <a:chOff x="15706" y="5214501"/>
            <a:chExt cx="20088860" cy="39306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5214501"/>
              <a:ext cx="20088393" cy="39265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5214501"/>
              <a:ext cx="20088393" cy="392658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15706" y="6141174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503393" y="6046016"/>
            <a:ext cx="462661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B5B5B5"/>
                </a:solidFill>
                <a:latin typeface="Arial MT"/>
                <a:cs typeface="Arial MT"/>
              </a:rPr>
              <a:t>Always</a:t>
            </a:r>
            <a:r>
              <a:rPr dirty="0" sz="2300" spc="29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8A8A8"/>
                </a:solidFill>
                <a:latin typeface="Arial MT"/>
                <a:cs typeface="Arial MT"/>
              </a:rPr>
              <a:t>authenticate</a:t>
            </a:r>
            <a:r>
              <a:rPr dirty="0" sz="2300" spc="38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0A1B5"/>
                </a:solidFill>
                <a:latin typeface="Arial MT"/>
                <a:cs typeface="Arial MT"/>
              </a:rPr>
              <a:t>and</a:t>
            </a:r>
            <a:r>
              <a:rPr dirty="0" sz="2300" spc="150">
                <a:solidFill>
                  <a:srgbClr val="90A1B5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8A8A8"/>
                </a:solidFill>
                <a:latin typeface="Arial MT"/>
                <a:cs typeface="Arial MT"/>
              </a:rPr>
              <a:t>authorize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968101" y="6046016"/>
            <a:ext cx="417131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959CAF"/>
                </a:solidFill>
                <a:latin typeface="Arial MT"/>
                <a:cs typeface="Arial MT"/>
              </a:rPr>
              <a:t>Limit</a:t>
            </a:r>
            <a:r>
              <a:rPr dirty="0" sz="2300" spc="225">
                <a:solidFill>
                  <a:srgbClr val="959C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B1B1B1"/>
                </a:solidFill>
                <a:latin typeface="Arial MT"/>
                <a:cs typeface="Arial MT"/>
              </a:rPr>
              <a:t>user</a:t>
            </a:r>
            <a:r>
              <a:rPr dirty="0" sz="2300" spc="23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FAFAF"/>
                </a:solidFill>
                <a:latin typeface="Arial MT"/>
                <a:cs typeface="Arial MT"/>
              </a:rPr>
              <a:t>access</a:t>
            </a:r>
            <a:r>
              <a:rPr dirty="0" sz="2300" spc="30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8593A3"/>
                </a:solidFill>
                <a:latin typeface="Arial MT"/>
                <a:cs typeface="Arial MT"/>
              </a:rPr>
              <a:t>with</a:t>
            </a:r>
            <a:r>
              <a:rPr dirty="0" sz="2300" spc="200">
                <a:solidFill>
                  <a:srgbClr val="8593A3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7C879A"/>
                </a:solidFill>
                <a:latin typeface="Arial MT"/>
                <a:cs typeface="Arial MT"/>
              </a:rPr>
              <a:t>Just-In</a:t>
            </a:r>
            <a:r>
              <a:rPr dirty="0" sz="2300" spc="-350">
                <a:solidFill>
                  <a:srgbClr val="7C879A"/>
                </a:solidFill>
                <a:latin typeface="Arial MT"/>
                <a:cs typeface="Arial MT"/>
              </a:rPr>
              <a:t> </a:t>
            </a:r>
            <a:r>
              <a:rPr dirty="0" sz="2300" spc="10">
                <a:solidFill>
                  <a:srgbClr val="758AA1"/>
                </a:solidFill>
                <a:latin typeface="Arial MT"/>
                <a:cs typeface="Arial MT"/>
              </a:rPr>
              <a:t>-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936223" y="6046016"/>
            <a:ext cx="465645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A3A3A3"/>
                </a:solidFill>
                <a:latin typeface="Arial MT"/>
                <a:cs typeface="Arial MT"/>
              </a:rPr>
              <a:t>Minimize</a:t>
            </a:r>
            <a:r>
              <a:rPr dirty="0" sz="2300" spc="24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47080"/>
                </a:solidFill>
                <a:latin typeface="Arial MT"/>
                <a:cs typeface="Arial MT"/>
              </a:rPr>
              <a:t>blast</a:t>
            </a:r>
            <a:r>
              <a:rPr dirty="0" sz="2300" spc="170">
                <a:solidFill>
                  <a:srgbClr val="647080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3A3A3"/>
                </a:solidFill>
                <a:latin typeface="Arial MT"/>
                <a:cs typeface="Arial MT"/>
              </a:rPr>
              <a:t>radius</a:t>
            </a:r>
            <a:r>
              <a:rPr dirty="0" sz="2300" spc="18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5A5A5"/>
                </a:solidFill>
                <a:latin typeface="Arial MT"/>
                <a:cs typeface="Arial MT"/>
              </a:rPr>
              <a:t>and</a:t>
            </a:r>
            <a:r>
              <a:rPr dirty="0" sz="2300" spc="14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FAFAF"/>
                </a:solidFill>
                <a:latin typeface="Arial MT"/>
                <a:cs typeface="Arial MT"/>
              </a:rPr>
              <a:t>segment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5706" y="6580951"/>
            <a:ext cx="20088860" cy="314325"/>
            <a:chOff x="15706" y="6580951"/>
            <a:chExt cx="20088860" cy="31432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6580951"/>
              <a:ext cx="20088393" cy="31412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6580951"/>
              <a:ext cx="20088393" cy="314126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15706" y="7020728"/>
            <a:ext cx="20088860" cy="330200"/>
            <a:chOff x="15706" y="7020728"/>
            <a:chExt cx="20088860" cy="330200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7020728"/>
              <a:ext cx="20088393" cy="32983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7020728"/>
              <a:ext cx="20088393" cy="329832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15706" y="7491918"/>
            <a:ext cx="20088860" cy="298450"/>
            <a:chOff x="15706" y="7491918"/>
            <a:chExt cx="20088860" cy="298450"/>
          </a:xfrm>
        </p:grpSpPr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88018" y="7539037"/>
              <a:ext cx="4209295" cy="21988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88759" y="7491918"/>
              <a:ext cx="4209295" cy="26700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80577" y="7491918"/>
              <a:ext cx="4209295" cy="26700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706" y="7491918"/>
              <a:ext cx="20088393" cy="298420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15706" y="7931695"/>
            <a:ext cx="20088860" cy="314325"/>
            <a:chOff x="15706" y="7931695"/>
            <a:chExt cx="20088860" cy="314325"/>
          </a:xfrm>
        </p:grpSpPr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706" y="7931695"/>
              <a:ext cx="20088393" cy="314126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706" y="7931695"/>
              <a:ext cx="20088393" cy="3141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0995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95"/>
              </a:spcBef>
            </a:pPr>
            <a:r>
              <a:rPr dirty="0" spc="45">
                <a:latin typeface="Calibri"/>
                <a:cs typeface="Calibri"/>
              </a:rPr>
              <a:t>Authentication</a:t>
            </a:r>
            <a:r>
              <a:rPr dirty="0" spc="-69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Models</a:t>
            </a:r>
            <a:r>
              <a:rPr dirty="0" spc="-105">
                <a:latin typeface="Calibri"/>
                <a:cs typeface="Calibri"/>
              </a:rPr>
              <a:t> </a:t>
            </a:r>
            <a:r>
              <a:rPr dirty="0" spc="-280">
                <a:latin typeface="Calibri"/>
                <a:cs typeface="Calibri"/>
              </a:rPr>
              <a:t>&amp;</a:t>
            </a:r>
            <a:r>
              <a:rPr dirty="0" spc="-395">
                <a:latin typeface="Calibri"/>
                <a:cs typeface="Calibri"/>
              </a:rPr>
              <a:t> </a:t>
            </a:r>
            <a:r>
              <a:rPr dirty="0" spc="385">
                <a:latin typeface="Calibri"/>
                <a:cs typeface="Calibri"/>
              </a:rPr>
              <a:t>Access</a:t>
            </a:r>
            <a:r>
              <a:rPr dirty="0" spc="-10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Control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3392566"/>
            <a:ext cx="20088860" cy="377190"/>
            <a:chOff x="15706" y="3392566"/>
            <a:chExt cx="20088860" cy="3771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7751" y="3416126"/>
              <a:ext cx="5999817" cy="33768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1548" y="3416126"/>
              <a:ext cx="6101908" cy="33768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3392566"/>
              <a:ext cx="20088393" cy="376951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5706" y="4334946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583194" y="4239788"/>
            <a:ext cx="690689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14">
                <a:solidFill>
                  <a:srgbClr val="B1B1B1"/>
                </a:solidFill>
                <a:latin typeface="Arial MT"/>
                <a:cs typeface="Arial MT"/>
              </a:rPr>
              <a:t>MFA</a:t>
            </a:r>
            <a:r>
              <a:rPr dirty="0" sz="2300" spc="26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B1B1B1"/>
                </a:solidFill>
                <a:latin typeface="Arial MT"/>
                <a:cs typeface="Arial MT"/>
              </a:rPr>
              <a:t>requires</a:t>
            </a:r>
            <a:r>
              <a:rPr dirty="0" sz="2300" spc="30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7C8390"/>
                </a:solidFill>
                <a:latin typeface="Arial MT"/>
                <a:cs typeface="Arial MT"/>
              </a:rPr>
              <a:t>more</a:t>
            </a:r>
            <a:r>
              <a:rPr dirty="0" sz="2300" spc="250">
                <a:solidFill>
                  <a:srgbClr val="7C8390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7A7A7"/>
                </a:solidFill>
                <a:latin typeface="Arial MT"/>
                <a:cs typeface="Arial MT"/>
              </a:rPr>
              <a:t>than</a:t>
            </a:r>
            <a:r>
              <a:rPr dirty="0" sz="2300" spc="245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84459"/>
                </a:solidFill>
                <a:latin typeface="Arial MT"/>
                <a:cs typeface="Arial MT"/>
              </a:rPr>
              <a:t>one</a:t>
            </a:r>
            <a:r>
              <a:rPr dirty="0" sz="2300" spc="245">
                <a:solidFill>
                  <a:srgbClr val="38445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distinct</a:t>
            </a:r>
            <a:r>
              <a:rPr dirty="0" sz="2300" spc="35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7A7A7"/>
                </a:solidFill>
                <a:latin typeface="Arial MT"/>
                <a:cs typeface="Arial MT"/>
              </a:rPr>
              <a:t>authentication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013574" y="4239788"/>
            <a:ext cx="740981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Access</a:t>
            </a:r>
            <a:r>
              <a:rPr dirty="0" sz="2300" spc="3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B1B1B1"/>
                </a:solidFill>
                <a:latin typeface="Arial MT"/>
                <a:cs typeface="Arial MT"/>
              </a:rPr>
              <a:t>decisions</a:t>
            </a:r>
            <a:r>
              <a:rPr dirty="0" sz="2300" spc="30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3A3A3"/>
                </a:solidFill>
                <a:latin typeface="Arial MT"/>
                <a:cs typeface="Arial MT"/>
              </a:rPr>
              <a:t>are</a:t>
            </a:r>
            <a:r>
              <a:rPr dirty="0" sz="2300" spc="22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9A1B3"/>
                </a:solidFill>
                <a:latin typeface="Arial MT"/>
                <a:cs typeface="Arial MT"/>
              </a:rPr>
              <a:t>based</a:t>
            </a:r>
            <a:r>
              <a:rPr dirty="0" sz="2300" spc="204">
                <a:solidFill>
                  <a:srgbClr val="99A1B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3A3A3"/>
                </a:solidFill>
                <a:latin typeface="Arial MT"/>
                <a:cs typeface="Arial MT"/>
              </a:rPr>
              <a:t>on</a:t>
            </a:r>
            <a:r>
              <a:rPr dirty="0" sz="2300" spc="18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7A7A7"/>
                </a:solidFill>
                <a:latin typeface="Arial MT"/>
                <a:cs typeface="Arial MT"/>
              </a:rPr>
              <a:t>the</a:t>
            </a:r>
            <a:r>
              <a:rPr dirty="0" sz="2300" spc="204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8A8A8"/>
                </a:solidFill>
                <a:latin typeface="Arial MT"/>
                <a:cs typeface="Arial MT"/>
              </a:rPr>
              <a:t>roles</a:t>
            </a:r>
            <a:r>
              <a:rPr dirty="0" sz="2300" spc="24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5A5A5"/>
                </a:solidFill>
                <a:latin typeface="Arial MT"/>
                <a:cs typeface="Arial MT"/>
              </a:rPr>
              <a:t>that</a:t>
            </a:r>
            <a:r>
              <a:rPr dirty="0" sz="2300" spc="24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CACAC"/>
                </a:solidFill>
                <a:latin typeface="Arial MT"/>
                <a:cs typeface="Arial MT"/>
              </a:rPr>
              <a:t>individual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5706" y="4774723"/>
            <a:ext cx="20088860" cy="314325"/>
            <a:chOff x="15706" y="4774723"/>
            <a:chExt cx="20088860" cy="314325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774723"/>
              <a:ext cx="20088393" cy="31412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4774723"/>
              <a:ext cx="20088393" cy="314126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15706" y="5245913"/>
            <a:ext cx="20088860" cy="236220"/>
            <a:chOff x="15706" y="5245913"/>
            <a:chExt cx="20088860" cy="236220"/>
          </a:xfrm>
        </p:grpSpPr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5245913"/>
              <a:ext cx="20088393" cy="23559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5245913"/>
              <a:ext cx="20088393" cy="235594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15706" y="5827047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5706" y="6266824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5706" y="6910784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5706" y="7381974"/>
            <a:ext cx="20088860" cy="298450"/>
            <a:chOff x="15706" y="7381974"/>
            <a:chExt cx="20088860" cy="298450"/>
          </a:xfrm>
        </p:grpSpPr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7381974"/>
              <a:ext cx="20088393" cy="29842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7381974"/>
              <a:ext cx="20088393" cy="298420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15706" y="8010227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885218" y="6187373"/>
            <a:ext cx="1673225" cy="21259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14"/>
              </a:spcBef>
            </a:pPr>
            <a:r>
              <a:rPr dirty="0" sz="2300" spc="55">
                <a:solidFill>
                  <a:srgbClr val="FFFFFF"/>
                </a:solidFill>
                <a:latin typeface="Arial MT"/>
                <a:cs typeface="Arial MT"/>
              </a:rPr>
              <a:t>Knowledge: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dirty="0" sz="2450" spc="114">
                <a:solidFill>
                  <a:srgbClr val="FFFFFF"/>
                </a:solidFill>
                <a:latin typeface="Calibri"/>
                <a:cs typeface="Calibri"/>
              </a:rPr>
              <a:t>Possession: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25"/>
              </a:spcBef>
            </a:pP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50" spc="45">
                <a:solidFill>
                  <a:srgbClr val="FFFFFF"/>
                </a:solidFill>
                <a:latin typeface="Calibri"/>
                <a:cs typeface="Calibri"/>
              </a:rPr>
              <a:t>Inherence: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309018" y="5747595"/>
            <a:ext cx="3574415" cy="2565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FFFFFF"/>
                </a:solidFill>
                <a:latin typeface="Arial MT"/>
                <a:cs typeface="Arial MT"/>
              </a:rPr>
              <a:t>Role</a:t>
            </a:r>
            <a:r>
              <a:rPr dirty="0" sz="23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40">
                <a:solidFill>
                  <a:srgbClr val="FFFFFF"/>
                </a:solidFill>
                <a:latin typeface="Arial MT"/>
                <a:cs typeface="Arial MT"/>
              </a:rPr>
              <a:t>Assignment:</a:t>
            </a:r>
            <a:endParaRPr sz="2300">
              <a:latin typeface="Arial MT"/>
              <a:cs typeface="Arial MT"/>
            </a:endParaRPr>
          </a:p>
          <a:p>
            <a:pPr marL="12700" marR="5080">
              <a:lnSpc>
                <a:spcPts val="8660"/>
              </a:lnSpc>
              <a:spcBef>
                <a:spcPts val="950"/>
              </a:spcBef>
            </a:pPr>
            <a:r>
              <a:rPr dirty="0" sz="2450" spc="6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r>
              <a:rPr dirty="0" sz="2450" spc="2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45">
                <a:solidFill>
                  <a:srgbClr val="FFFFFF"/>
                </a:solidFill>
                <a:latin typeface="Calibri"/>
                <a:cs typeface="Calibri"/>
              </a:rPr>
              <a:t>Authorization: </a:t>
            </a:r>
            <a:r>
              <a:rPr dirty="0" sz="2450" spc="90">
                <a:solidFill>
                  <a:srgbClr val="FFFFFF"/>
                </a:solidFill>
                <a:latin typeface="Calibri"/>
                <a:cs typeface="Calibri"/>
              </a:rPr>
              <a:t>Permission</a:t>
            </a:r>
            <a:r>
              <a:rPr dirty="0" sz="2450" spc="3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45">
                <a:solidFill>
                  <a:srgbClr val="FFFFFF"/>
                </a:solidFill>
                <a:latin typeface="Calibri"/>
                <a:cs typeface="Calibri"/>
              </a:rPr>
              <a:t>Authorization: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706" y="8481417"/>
            <a:ext cx="20088860" cy="298450"/>
            <a:chOff x="15706" y="8481417"/>
            <a:chExt cx="20088860" cy="298450"/>
          </a:xfrm>
        </p:grpSpPr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6" y="8481417"/>
              <a:ext cx="20088393" cy="29842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8481417"/>
              <a:ext cx="20088393" cy="2984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848050"/>
            <a:ext cx="20088393" cy="97379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1068030"/>
            <a:ext cx="20080605" cy="668020"/>
          </a:xfrm>
          <a:custGeom>
            <a:avLst/>
            <a:gdLst/>
            <a:ahLst/>
            <a:cxnLst/>
            <a:rect l="l" t="t" r="r" b="b"/>
            <a:pathLst>
              <a:path w="20080605" h="668019">
                <a:moveTo>
                  <a:pt x="20080541" y="667518"/>
                </a:moveTo>
                <a:lnTo>
                  <a:pt x="0" y="66751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6751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3142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dirty="0" spc="-220"/>
              <a:t>Designing</a:t>
            </a:r>
            <a:r>
              <a:rPr dirty="0" spc="-75"/>
              <a:t> </a:t>
            </a:r>
            <a:r>
              <a:rPr dirty="0" spc="-114"/>
              <a:t>the</a:t>
            </a:r>
            <a:r>
              <a:rPr dirty="0" spc="-290"/>
              <a:t> </a:t>
            </a:r>
            <a:r>
              <a:rPr dirty="0" spc="-305"/>
              <a:t>Zero</a:t>
            </a:r>
            <a:r>
              <a:rPr dirty="0" spc="-295"/>
              <a:t> </a:t>
            </a:r>
            <a:r>
              <a:rPr dirty="0" spc="-170"/>
              <a:t>Trust</a:t>
            </a:r>
            <a:r>
              <a:rPr dirty="0" spc="-505"/>
              <a:t> </a:t>
            </a:r>
            <a:r>
              <a:rPr dirty="0" spc="-270"/>
              <a:t>Framework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15706" y="5827047"/>
            <a:ext cx="20088860" cy="393065"/>
            <a:chOff x="15706" y="5827047"/>
            <a:chExt cx="20088860" cy="39306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5827047"/>
              <a:ext cx="20088393" cy="39265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5827047"/>
              <a:ext cx="20088393" cy="392658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5706" y="6580951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430471" y="6501499"/>
            <a:ext cx="141097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Define</a:t>
            </a:r>
            <a:r>
              <a:rPr dirty="0" sz="2300" spc="25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939EAF"/>
                </a:solidFill>
                <a:latin typeface="Arial MT"/>
                <a:cs typeface="Arial MT"/>
              </a:rPr>
              <a:t>the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23632" y="6501499"/>
            <a:ext cx="223202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ACACAC"/>
                </a:solidFill>
                <a:latin typeface="Arial MT"/>
                <a:cs typeface="Arial MT"/>
              </a:rPr>
              <a:t>Understand</a:t>
            </a:r>
            <a:r>
              <a:rPr dirty="0" sz="2300" spc="52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959595"/>
                </a:solidFill>
                <a:latin typeface="Arial MT"/>
                <a:cs typeface="Arial MT"/>
              </a:rPr>
              <a:t>how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265283" y="6501499"/>
            <a:ext cx="216090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8E97A7"/>
                </a:solidFill>
                <a:latin typeface="Arial MT"/>
                <a:cs typeface="Arial MT"/>
              </a:rPr>
              <a:t>Design</a:t>
            </a:r>
            <a:r>
              <a:rPr dirty="0" sz="2300" spc="195">
                <a:solidFill>
                  <a:srgbClr val="8E97A7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the</a:t>
            </a:r>
            <a:r>
              <a:rPr dirty="0" sz="2300" spc="26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9A9A9A"/>
                </a:solidFill>
                <a:latin typeface="Arial MT"/>
                <a:cs typeface="Arial MT"/>
              </a:rPr>
              <a:t>Zero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905883" y="6485139"/>
            <a:ext cx="208470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45">
                <a:solidFill>
                  <a:srgbClr val="9AAABA"/>
                </a:solidFill>
                <a:latin typeface="Arial MT"/>
                <a:cs typeface="Arial MT"/>
              </a:rPr>
              <a:t>Create</a:t>
            </a:r>
            <a:r>
              <a:rPr dirty="0" sz="2450" spc="-85">
                <a:solidFill>
                  <a:srgbClr val="9AAABA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959595"/>
                </a:solidFill>
                <a:latin typeface="Arial MT"/>
                <a:cs typeface="Arial MT"/>
              </a:rPr>
              <a:t>granular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5706" y="7036434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588884" y="6956983"/>
            <a:ext cx="109220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AEAEAE"/>
                </a:solidFill>
                <a:latin typeface="Arial MT"/>
                <a:cs typeface="Arial MT"/>
              </a:rPr>
              <a:t>"Protect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53642" y="6956983"/>
            <a:ext cx="176720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ACACAC"/>
                </a:solidFill>
                <a:latin typeface="Arial MT"/>
                <a:cs typeface="Arial MT"/>
              </a:rPr>
              <a:t>traffic</a:t>
            </a:r>
            <a:r>
              <a:rPr dirty="0" sz="2300" spc="55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EAEAE"/>
                </a:solidFill>
                <a:latin typeface="Arial MT"/>
                <a:cs typeface="Arial MT"/>
              </a:rPr>
              <a:t>moves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398897" y="6956983"/>
            <a:ext cx="188912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B8B8B8"/>
                </a:solidFill>
                <a:latin typeface="Arial MT"/>
                <a:cs typeface="Arial MT"/>
              </a:rPr>
              <a:t>Trust</a:t>
            </a:r>
            <a:r>
              <a:rPr dirty="0" sz="2300" spc="26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A5A5A5"/>
                </a:solidFill>
                <a:latin typeface="Arial MT"/>
                <a:cs typeface="Arial MT"/>
              </a:rPr>
              <a:t>network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776306" y="6956983"/>
            <a:ext cx="235775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AFAFAF"/>
                </a:solidFill>
                <a:latin typeface="Arial MT"/>
                <a:cs typeface="Arial MT"/>
              </a:rPr>
              <a:t>policie</a:t>
            </a:r>
            <a:r>
              <a:rPr dirty="0" sz="2300" spc="-33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7C8593"/>
                </a:solidFill>
                <a:latin typeface="Arial MT"/>
                <a:cs typeface="Arial MT"/>
              </a:rPr>
              <a:t>s</a:t>
            </a:r>
            <a:r>
              <a:rPr dirty="0" sz="2300" spc="155">
                <a:solidFill>
                  <a:srgbClr val="7C859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B1B1B1"/>
                </a:solidFill>
                <a:latin typeface="Arial MT"/>
                <a:cs typeface="Arial MT"/>
              </a:rPr>
              <a:t>using</a:t>
            </a:r>
            <a:r>
              <a:rPr dirty="0" sz="2300" spc="12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9AA5B8"/>
                </a:solidFill>
                <a:latin typeface="Arial MT"/>
                <a:cs typeface="Arial MT"/>
              </a:rPr>
              <a:t>the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5706" y="7491918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968774" y="7412466"/>
            <a:ext cx="236347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959595"/>
                </a:solidFill>
                <a:latin typeface="Arial MT"/>
                <a:cs typeface="Arial MT"/>
              </a:rPr>
              <a:t>Surface"—</a:t>
            </a:r>
            <a:r>
              <a:rPr dirty="0" sz="2300" spc="-10">
                <a:solidFill>
                  <a:srgbClr val="959595"/>
                </a:solidFill>
                <a:latin typeface="Arial MT"/>
                <a:cs typeface="Arial MT"/>
              </a:rPr>
              <a:t>critical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028798" y="7412466"/>
            <a:ext cx="143002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across</a:t>
            </a:r>
            <a:r>
              <a:rPr dirty="0" sz="2300" spc="3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A1ACBF"/>
                </a:solidFill>
                <a:latin typeface="Arial MT"/>
                <a:cs typeface="Arial MT"/>
              </a:rPr>
              <a:t>the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593412" y="7412466"/>
            <a:ext cx="150939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8993A5"/>
                </a:solidFill>
                <a:latin typeface="Arial MT"/>
                <a:cs typeface="Arial MT"/>
              </a:rPr>
              <a:t>with</a:t>
            </a:r>
            <a:r>
              <a:rPr dirty="0" sz="2300" spc="204">
                <a:solidFill>
                  <a:srgbClr val="8993A5"/>
                </a:solidFill>
                <a:latin typeface="Arial MT"/>
                <a:cs typeface="Arial MT"/>
              </a:rPr>
              <a:t> </a:t>
            </a:r>
            <a:r>
              <a:rPr dirty="0" sz="2300" spc="40">
                <a:solidFill>
                  <a:srgbClr val="AEAEAE"/>
                </a:solidFill>
                <a:latin typeface="Arial MT"/>
                <a:cs typeface="Arial MT"/>
              </a:rPr>
              <a:t>micro-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5837175" y="7412466"/>
            <a:ext cx="227711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879A93"/>
                </a:solidFill>
                <a:latin typeface="Arial MT"/>
                <a:cs typeface="Arial MT"/>
              </a:rPr>
              <a:t>"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Kipling</a:t>
            </a:r>
            <a:r>
              <a:rPr dirty="0" sz="2300" spc="14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 spc="80">
                <a:solidFill>
                  <a:srgbClr val="565B69"/>
                </a:solidFill>
                <a:latin typeface="Arial MT"/>
                <a:cs typeface="Arial MT"/>
              </a:rPr>
              <a:t>Method</a:t>
            </a:r>
            <a:r>
              <a:rPr dirty="0" sz="2300" spc="80">
                <a:solidFill>
                  <a:srgbClr val="879A93"/>
                </a:solidFill>
                <a:latin typeface="Arial MT"/>
                <a:cs typeface="Arial MT"/>
              </a:rPr>
              <a:t>"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706" y="7947401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923697" y="7835228"/>
            <a:ext cx="239712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105">
                <a:solidFill>
                  <a:srgbClr val="727C8C"/>
                </a:solidFill>
                <a:latin typeface="Arial MT"/>
                <a:cs typeface="Arial MT"/>
              </a:rPr>
              <a:t>data,</a:t>
            </a:r>
            <a:r>
              <a:rPr dirty="0" sz="2550" spc="-55">
                <a:solidFill>
                  <a:srgbClr val="727C8C"/>
                </a:solidFill>
                <a:latin typeface="Arial MT"/>
                <a:cs typeface="Arial MT"/>
              </a:rPr>
              <a:t> </a:t>
            </a:r>
            <a:r>
              <a:rPr dirty="0" sz="2550" spc="-100">
                <a:solidFill>
                  <a:srgbClr val="ACACAC"/>
                </a:solidFill>
                <a:latin typeface="Arial MT"/>
                <a:cs typeface="Arial MT"/>
              </a:rPr>
              <a:t>applications,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010810" y="7884310"/>
            <a:ext cx="146939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145">
                <a:solidFill>
                  <a:srgbClr val="A3A3A3"/>
                </a:solidFill>
                <a:latin typeface="Calibri"/>
                <a:cs typeface="Calibri"/>
              </a:rPr>
              <a:t>network</a:t>
            </a:r>
            <a:r>
              <a:rPr dirty="0" sz="2200" spc="345">
                <a:solidFill>
                  <a:srgbClr val="A3A3A3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25262"/>
                </a:solidFill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137583" y="7867949"/>
            <a:ext cx="243459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934845" algn="l"/>
              </a:tabLst>
            </a:pPr>
            <a:r>
              <a:rPr dirty="0" sz="2300" spc="-10">
                <a:solidFill>
                  <a:srgbClr val="A8A8A8"/>
                </a:solidFill>
                <a:latin typeface="Arial MT"/>
                <a:cs typeface="Arial MT"/>
              </a:rPr>
              <a:t>segmentation</a:t>
            </a:r>
            <a:r>
              <a:rPr dirty="0" sz="2300">
                <a:solidFill>
                  <a:srgbClr val="A8A8A8"/>
                </a:solidFill>
                <a:latin typeface="Arial MT"/>
                <a:cs typeface="Arial MT"/>
              </a:rPr>
              <a:t>	</a:t>
            </a:r>
            <a:r>
              <a:rPr dirty="0" sz="2300" spc="-25">
                <a:solidFill>
                  <a:srgbClr val="505767"/>
                </a:solidFill>
                <a:latin typeface="Arial MT"/>
                <a:cs typeface="Arial MT"/>
              </a:rPr>
              <a:t>and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6124421" y="7884310"/>
            <a:ext cx="168021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50">
                <a:solidFill>
                  <a:srgbClr val="70798A"/>
                </a:solidFill>
                <a:latin typeface="Arial MT"/>
                <a:cs typeface="Arial MT"/>
              </a:rPr>
              <a:t>(Who,</a:t>
            </a:r>
            <a:r>
              <a:rPr dirty="0" sz="2200" spc="250">
                <a:solidFill>
                  <a:srgbClr val="70798A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B1B1B1"/>
                </a:solidFill>
                <a:latin typeface="Arial MT"/>
                <a:cs typeface="Arial MT"/>
              </a:rPr>
              <a:t>What,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5706" y="8387179"/>
            <a:ext cx="20088860" cy="314325"/>
            <a:chOff x="15706" y="8387179"/>
            <a:chExt cx="20088860" cy="314325"/>
          </a:xfrm>
        </p:grpSpPr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8387179"/>
              <a:ext cx="20088393" cy="31412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8387179"/>
              <a:ext cx="20088393" cy="314126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15706" y="8826956"/>
            <a:ext cx="20088860" cy="330200"/>
            <a:chOff x="15706" y="8826956"/>
            <a:chExt cx="20088860" cy="330200"/>
          </a:xfrm>
        </p:grpSpPr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8826956"/>
              <a:ext cx="20088393" cy="329832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8826956"/>
              <a:ext cx="20088393" cy="329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376951"/>
            <a:ext cx="20080605" cy="668020"/>
          </a:xfrm>
          <a:custGeom>
            <a:avLst/>
            <a:gdLst/>
            <a:ahLst/>
            <a:cxnLst/>
            <a:rect l="l" t="t" r="r" b="b"/>
            <a:pathLst>
              <a:path w="20080605" h="668019">
                <a:moveTo>
                  <a:pt x="20080541" y="667518"/>
                </a:moveTo>
                <a:lnTo>
                  <a:pt x="0" y="66751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6751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pc="-229"/>
              <a:t>Simulating</a:t>
            </a:r>
            <a:r>
              <a:rPr dirty="0" spc="-190"/>
              <a:t> </a:t>
            </a:r>
            <a:r>
              <a:rPr dirty="0" spc="-210"/>
              <a:t>Enterprise</a:t>
            </a:r>
            <a:r>
              <a:rPr dirty="0" spc="-55"/>
              <a:t> </a:t>
            </a:r>
            <a:r>
              <a:rPr dirty="0" spc="-35"/>
              <a:t>Security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5706" y="2324536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69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43949" y="2244429"/>
            <a:ext cx="47625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480">
                <a:solidFill>
                  <a:srgbClr val="21D3ED"/>
                </a:solidFill>
                <a:latin typeface="Arial MT"/>
                <a:cs typeface="Arial MT"/>
              </a:rPr>
              <a:t>jğ§j•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15218" y="2244429"/>
            <a:ext cx="227139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Containerization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5706" y="3094146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706" y="3533923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706" y="4052232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39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5706" y="5167381"/>
            <a:ext cx="20080605" cy="369570"/>
            <a:chOff x="15706" y="5167381"/>
            <a:chExt cx="20080605" cy="36957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379" y="5190941"/>
              <a:ext cx="369098" cy="14135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379" y="5379417"/>
              <a:ext cx="376951" cy="14135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706" y="5167381"/>
              <a:ext cx="20080605" cy="369570"/>
            </a:xfrm>
            <a:custGeom>
              <a:avLst/>
              <a:gdLst/>
              <a:ahLst/>
              <a:cxnLst/>
              <a:rect l="l" t="t" r="r" b="b"/>
              <a:pathLst>
                <a:path w="20080605" h="369570">
                  <a:moveTo>
                    <a:pt x="20080541" y="369098"/>
                  </a:moveTo>
                  <a:lnTo>
                    <a:pt x="0" y="369098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369098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627246" y="2860103"/>
            <a:ext cx="8013065" cy="26257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06045" marR="5080">
              <a:lnSpc>
                <a:spcPct val="127699"/>
              </a:lnSpc>
              <a:spcBef>
                <a:spcPts val="115"/>
              </a:spcBef>
              <a:tabLst>
                <a:tab pos="7060565" algn="l"/>
              </a:tabLst>
            </a:pPr>
            <a:r>
              <a:rPr dirty="0" sz="2550" spc="-130">
                <a:solidFill>
                  <a:srgbClr val="ACACAC"/>
                </a:solidFill>
                <a:latin typeface="Arial MT"/>
                <a:cs typeface="Arial MT"/>
              </a:rPr>
              <a:t>Use</a:t>
            </a:r>
            <a:r>
              <a:rPr dirty="0" sz="2550" spc="-5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550" spc="-85">
                <a:solidFill>
                  <a:srgbClr val="9C9C9C"/>
                </a:solidFill>
                <a:latin typeface="Arial MT"/>
                <a:cs typeface="Arial MT"/>
              </a:rPr>
              <a:t>Docker</a:t>
            </a:r>
            <a:r>
              <a:rPr dirty="0" sz="2550" spc="-3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A3A3A3"/>
                </a:solidFill>
                <a:latin typeface="Arial MT"/>
                <a:cs typeface="Arial MT"/>
              </a:rPr>
              <a:t>to</a:t>
            </a:r>
            <a:r>
              <a:rPr dirty="0" sz="2550" spc="-3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550" spc="-80">
                <a:solidFill>
                  <a:srgbClr val="8595AA"/>
                </a:solidFill>
                <a:latin typeface="Arial MT"/>
                <a:cs typeface="Arial MT"/>
              </a:rPr>
              <a:t>spin</a:t>
            </a:r>
            <a:r>
              <a:rPr dirty="0" sz="2550" spc="-75">
                <a:solidFill>
                  <a:srgbClr val="8595AA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97A0B3"/>
                </a:solidFill>
                <a:latin typeface="Arial MT"/>
                <a:cs typeface="Arial MT"/>
              </a:rPr>
              <a:t>up</a:t>
            </a:r>
            <a:r>
              <a:rPr dirty="0" sz="2550" spc="-135">
                <a:solidFill>
                  <a:srgbClr val="97A0B3"/>
                </a:solidFill>
                <a:latin typeface="Arial MT"/>
                <a:cs typeface="Arial MT"/>
              </a:rPr>
              <a:t> </a:t>
            </a:r>
            <a:r>
              <a:rPr dirty="0" sz="2550" spc="-65">
                <a:solidFill>
                  <a:srgbClr val="AAAAAA"/>
                </a:solidFill>
                <a:latin typeface="Arial MT"/>
                <a:cs typeface="Arial MT"/>
              </a:rPr>
              <a:t>isolated</a:t>
            </a:r>
            <a:r>
              <a:rPr dirty="0" sz="2550" spc="-7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550" spc="-125">
                <a:solidFill>
                  <a:srgbClr val="97A3B5"/>
                </a:solidFill>
                <a:latin typeface="Arial MT"/>
                <a:cs typeface="Arial MT"/>
              </a:rPr>
              <a:t>micro</a:t>
            </a:r>
            <a:r>
              <a:rPr dirty="0" sz="2550" spc="-350">
                <a:solidFill>
                  <a:srgbClr val="97A3B5"/>
                </a:solidFill>
                <a:latin typeface="Arial MT"/>
                <a:cs typeface="Arial MT"/>
              </a:rPr>
              <a:t> </a:t>
            </a:r>
            <a:r>
              <a:rPr dirty="0" sz="2550" spc="-60">
                <a:solidFill>
                  <a:srgbClr val="A8A8A8"/>
                </a:solidFill>
                <a:latin typeface="Arial MT"/>
                <a:cs typeface="Arial MT"/>
              </a:rPr>
              <a:t>services</a:t>
            </a:r>
            <a:r>
              <a:rPr dirty="0" sz="2550" spc="3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550" spc="-55">
                <a:solidFill>
                  <a:srgbClr val="ACACAC"/>
                </a:solidFill>
                <a:latin typeface="Arial MT"/>
                <a:cs typeface="Arial MT"/>
              </a:rPr>
              <a:t>representing </a:t>
            </a:r>
            <a:r>
              <a:rPr dirty="0" sz="2300">
                <a:solidFill>
                  <a:srgbClr val="AFAFAF"/>
                </a:solidFill>
                <a:latin typeface="Arial MT"/>
                <a:cs typeface="Arial MT"/>
              </a:rPr>
              <a:t>different</a:t>
            </a:r>
            <a:r>
              <a:rPr dirty="0" sz="2300" spc="43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business</a:t>
            </a:r>
            <a:r>
              <a:rPr dirty="0" sz="2300" spc="43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CACAC"/>
                </a:solidFill>
                <a:latin typeface="Arial MT"/>
                <a:cs typeface="Arial MT"/>
              </a:rPr>
              <a:t>units</a:t>
            </a:r>
            <a:r>
              <a:rPr dirty="0" sz="2300" spc="37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300" spc="-135">
                <a:solidFill>
                  <a:srgbClr val="AEAEAE"/>
                </a:solidFill>
                <a:latin typeface="Arial MT"/>
                <a:cs typeface="Arial MT"/>
              </a:rPr>
              <a:t>(F</a:t>
            </a:r>
            <a:r>
              <a:rPr dirty="0" sz="2300" spc="-36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39393"/>
                </a:solidFill>
                <a:latin typeface="Arial MT"/>
                <a:cs typeface="Arial MT"/>
              </a:rPr>
              <a:t>in</a:t>
            </a:r>
            <a:r>
              <a:rPr dirty="0" sz="2300">
                <a:solidFill>
                  <a:srgbClr val="A5A5A5"/>
                </a:solidFill>
                <a:latin typeface="Arial MT"/>
                <a:cs typeface="Arial MT"/>
              </a:rPr>
              <a:t>ance,</a:t>
            </a:r>
            <a:r>
              <a:rPr dirty="0" sz="2300" spc="26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B1B1B1"/>
                </a:solidFill>
                <a:latin typeface="Arial MT"/>
                <a:cs typeface="Arial MT"/>
              </a:rPr>
              <a:t>HR,</a:t>
            </a:r>
            <a:r>
              <a:rPr dirty="0" sz="2300" spc="254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EAEAE"/>
                </a:solidFill>
                <a:latin typeface="Arial MT"/>
                <a:cs typeface="Arial MT"/>
              </a:rPr>
              <a:t>Engineering)</a:t>
            </a:r>
            <a:r>
              <a:rPr dirty="0" sz="2300">
                <a:solidFill>
                  <a:srgbClr val="AEAEAE"/>
                </a:solidFill>
                <a:latin typeface="Arial MT"/>
                <a:cs typeface="Arial MT"/>
              </a:rPr>
              <a:t>	</a:t>
            </a:r>
            <a:r>
              <a:rPr dirty="0" sz="2300">
                <a:solidFill>
                  <a:srgbClr val="93A0B3"/>
                </a:solidFill>
                <a:latin typeface="Arial MT"/>
                <a:cs typeface="Arial MT"/>
              </a:rPr>
              <a:t>to</a:t>
            </a:r>
            <a:r>
              <a:rPr dirty="0" sz="2300" spc="155">
                <a:solidFill>
                  <a:srgbClr val="93A0B3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B1B1B1"/>
                </a:solidFill>
                <a:latin typeface="Arial MT"/>
                <a:cs typeface="Arial MT"/>
              </a:rPr>
              <a:t>test </a:t>
            </a:r>
            <a:r>
              <a:rPr dirty="0" sz="2300" spc="-10">
                <a:solidFill>
                  <a:srgbClr val="AAAAAA"/>
                </a:solidFill>
                <a:latin typeface="Arial MT"/>
                <a:cs typeface="Arial MT"/>
              </a:rPr>
              <a:t>se</a:t>
            </a:r>
            <a:r>
              <a:rPr dirty="0" sz="2300" spc="-10">
                <a:solidFill>
                  <a:srgbClr val="A1A1A1"/>
                </a:solidFill>
                <a:latin typeface="Arial MT"/>
                <a:cs typeface="Arial MT"/>
              </a:rPr>
              <a:t>gmenÎaÎion.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Virtualization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5706" y="5779928"/>
            <a:ext cx="20080605" cy="903605"/>
          </a:xfrm>
          <a:custGeom>
            <a:avLst/>
            <a:gdLst/>
            <a:ahLst/>
            <a:cxnLst/>
            <a:rect l="l" t="t" r="r" b="b"/>
            <a:pathLst>
              <a:path w="20080605" h="903604">
                <a:moveTo>
                  <a:pt x="20080541" y="903113"/>
                </a:moveTo>
                <a:lnTo>
                  <a:pt x="0" y="90311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0311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623434" y="5739742"/>
            <a:ext cx="7917815" cy="936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9900"/>
              </a:lnSpc>
              <a:spcBef>
                <a:spcPts val="95"/>
              </a:spcBef>
              <a:tabLst>
                <a:tab pos="4714240" algn="l"/>
                <a:tab pos="6327775" algn="l"/>
              </a:tabLst>
            </a:pPr>
            <a:r>
              <a:rPr dirty="0" sz="2300">
                <a:solidFill>
                  <a:srgbClr val="AFAFAF"/>
                </a:solidFill>
                <a:latin typeface="Arial MT"/>
                <a:cs typeface="Arial MT"/>
              </a:rPr>
              <a:t>Deploy</a:t>
            </a:r>
            <a:r>
              <a:rPr dirty="0" sz="2300" spc="28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8A8A8"/>
                </a:solidFill>
                <a:latin typeface="Arial MT"/>
                <a:cs typeface="Arial MT"/>
              </a:rPr>
              <a:t>VMware</a:t>
            </a:r>
            <a:r>
              <a:rPr dirty="0" sz="2300" spc="28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solidFill>
                  <a:srgbClr val="939393"/>
                </a:solidFill>
                <a:latin typeface="Arial MT"/>
                <a:cs typeface="Arial MT"/>
              </a:rPr>
              <a:t>ESXi</a:t>
            </a:r>
            <a:r>
              <a:rPr dirty="0" sz="2300" spc="6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09AAC"/>
                </a:solidFill>
                <a:latin typeface="Arial MT"/>
                <a:cs typeface="Arial MT"/>
              </a:rPr>
              <a:t>to</a:t>
            </a:r>
            <a:r>
              <a:rPr dirty="0" sz="2300" spc="140">
                <a:solidFill>
                  <a:srgbClr val="909AAC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AAAAAA"/>
                </a:solidFill>
                <a:latin typeface="Arial MT"/>
                <a:cs typeface="Arial MT"/>
              </a:rPr>
              <a:t>host</a:t>
            </a:r>
            <a:r>
              <a:rPr dirty="0" sz="2300" spc="18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virtual</a:t>
            </a:r>
            <a:r>
              <a:rPr dirty="0" sz="2300" spc="10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firewalls</a:t>
            </a:r>
            <a:r>
              <a:rPr dirty="0" sz="2300" spc="31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79797"/>
                </a:solidFill>
                <a:latin typeface="Arial MT"/>
                <a:cs typeface="Arial MT"/>
              </a:rPr>
              <a:t>(like</a:t>
            </a:r>
            <a:r>
              <a:rPr dirty="0" sz="2300" spc="18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77839A"/>
                </a:solidFill>
                <a:latin typeface="Arial MT"/>
                <a:cs typeface="Arial MT"/>
              </a:rPr>
              <a:t>pf</a:t>
            </a:r>
            <a:r>
              <a:rPr dirty="0" sz="2300" spc="-320">
                <a:solidFill>
                  <a:srgbClr val="77839A"/>
                </a:solidFill>
                <a:latin typeface="Arial MT"/>
                <a:cs typeface="Arial MT"/>
              </a:rPr>
              <a:t> </a:t>
            </a:r>
            <a:r>
              <a:rPr dirty="0" sz="2300" spc="-45">
                <a:solidFill>
                  <a:srgbClr val="B3B3B3"/>
                </a:solidFill>
                <a:latin typeface="Arial MT"/>
                <a:cs typeface="Arial MT"/>
              </a:rPr>
              <a:t>S</a:t>
            </a:r>
            <a:r>
              <a:rPr dirty="0" sz="2300" spc="-45">
                <a:solidFill>
                  <a:srgbClr val="919191"/>
                </a:solidFill>
                <a:latin typeface="Arial MT"/>
                <a:cs typeface="Arial MT"/>
              </a:rPr>
              <a:t>en</a:t>
            </a:r>
            <a:r>
              <a:rPr dirty="0" sz="2300" spc="-400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A8A8A8"/>
                </a:solidFill>
                <a:latin typeface="Arial MT"/>
                <a:cs typeface="Arial MT"/>
              </a:rPr>
              <a:t>se) 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that</a:t>
            </a:r>
            <a:r>
              <a:rPr dirty="0" sz="2300" spc="16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5A5A5"/>
                </a:solidFill>
                <a:latin typeface="Arial MT"/>
                <a:cs typeface="Arial MT"/>
              </a:rPr>
              <a:t>act</a:t>
            </a:r>
            <a:r>
              <a:rPr dirty="0" sz="2300" spc="9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B3B3B3"/>
                </a:solidFill>
                <a:latin typeface="Arial MT"/>
                <a:cs typeface="Arial MT"/>
              </a:rPr>
              <a:t>as</a:t>
            </a:r>
            <a:r>
              <a:rPr dirty="0" sz="2300" spc="10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the</a:t>
            </a:r>
            <a:r>
              <a:rPr dirty="0" sz="2300" spc="15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8A8A8"/>
                </a:solidFill>
                <a:latin typeface="Arial MT"/>
                <a:cs typeface="Arial MT"/>
              </a:rPr>
              <a:t>Policy</a:t>
            </a:r>
            <a:r>
              <a:rPr dirty="0" sz="2300" spc="2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7A7A7"/>
                </a:solidFill>
                <a:latin typeface="Arial MT"/>
                <a:cs typeface="Arial MT"/>
              </a:rPr>
              <a:t>Enforcement</a:t>
            </a:r>
            <a:r>
              <a:rPr dirty="0" sz="2300">
                <a:solidFill>
                  <a:srgbClr val="A7A7A7"/>
                </a:solidFill>
                <a:latin typeface="Arial MT"/>
                <a:cs typeface="Arial MT"/>
              </a:rPr>
              <a:t>	Point</a:t>
            </a:r>
            <a:r>
              <a:rPr dirty="0" sz="2300" spc="16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8A8A8"/>
                </a:solidFill>
                <a:latin typeface="Arial MT"/>
                <a:cs typeface="Arial MT"/>
              </a:rPr>
              <a:t>(PEP)</a:t>
            </a:r>
            <a:r>
              <a:rPr dirty="0" sz="2300">
                <a:solidFill>
                  <a:srgbClr val="A8A8A8"/>
                </a:solidFill>
                <a:latin typeface="Arial MT"/>
                <a:cs typeface="Arial MT"/>
              </a:rPr>
              <a:t>	</a:t>
            </a:r>
            <a:r>
              <a:rPr dirty="0" sz="2300" spc="45">
                <a:solidFill>
                  <a:srgbClr val="A3A3A3"/>
                </a:solidFill>
                <a:latin typeface="Arial MT"/>
                <a:cs typeface="Arial MT"/>
              </a:rPr>
              <a:t>between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843411" y="5703094"/>
            <a:ext cx="78003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8089A8"/>
                </a:solidFill>
                <a:latin typeface="Consolas"/>
                <a:cs typeface="Consolas"/>
              </a:rPr>
              <a:t>#</a:t>
            </a:r>
            <a:r>
              <a:rPr dirty="0" sz="1800" spc="-125">
                <a:solidFill>
                  <a:srgbClr val="8089A8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62708E"/>
                </a:solidFill>
                <a:latin typeface="Consolas"/>
                <a:cs typeface="Consolas"/>
              </a:rPr>
              <a:t>Docker</a:t>
            </a:r>
            <a:r>
              <a:rPr dirty="0" sz="1800" spc="-30">
                <a:solidFill>
                  <a:srgbClr val="62708E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FBFBF"/>
                </a:solidFill>
                <a:latin typeface="Consolas"/>
                <a:cs typeface="Consolas"/>
              </a:rPr>
              <a:t>Compose</a:t>
            </a:r>
            <a:r>
              <a:rPr dirty="0" sz="1800" spc="-40">
                <a:solidFill>
                  <a:srgbClr val="BFBFB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8B8B8"/>
                </a:solidFill>
                <a:latin typeface="Consolas"/>
                <a:cs typeface="Consolas"/>
              </a:rPr>
              <a:t>Example:</a:t>
            </a:r>
            <a:r>
              <a:rPr dirty="0" sz="1800" spc="-35">
                <a:solidFill>
                  <a:srgbClr val="B8B8B8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3082A"/>
                </a:solidFill>
                <a:latin typeface="Consolas"/>
                <a:cs typeface="Consolas"/>
              </a:rPr>
              <a:t>Isolated</a:t>
            </a:r>
            <a:r>
              <a:rPr dirty="0" sz="1800" spc="-20">
                <a:solidFill>
                  <a:srgbClr val="03082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FBFBF"/>
                </a:solidFill>
                <a:latin typeface="Consolas"/>
                <a:cs typeface="Consolas"/>
              </a:rPr>
              <a:t>Networks</a:t>
            </a:r>
            <a:r>
              <a:rPr dirty="0" sz="1800" spc="-40">
                <a:solidFill>
                  <a:srgbClr val="BFBFB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7C87A3"/>
                </a:solidFill>
                <a:latin typeface="Consolas"/>
                <a:cs typeface="Consolas"/>
              </a:rPr>
              <a:t>services:</a:t>
            </a:r>
            <a:r>
              <a:rPr dirty="0" sz="1800" spc="55">
                <a:solidFill>
                  <a:srgbClr val="7C87A3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8E8E8E"/>
                </a:solidFill>
                <a:latin typeface="Consolas"/>
                <a:cs typeface="Consolas"/>
              </a:rPr>
              <a:t>finance-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5706" y="6769427"/>
            <a:ext cx="20080605" cy="558165"/>
          </a:xfrm>
          <a:custGeom>
            <a:avLst/>
            <a:gdLst/>
            <a:ahLst/>
            <a:cxnLst/>
            <a:rect l="l" t="t" r="r" b="b"/>
            <a:pathLst>
              <a:path w="20080605" h="558165">
                <a:moveTo>
                  <a:pt x="20080541" y="557574"/>
                </a:moveTo>
                <a:lnTo>
                  <a:pt x="0" y="55757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57574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638565" y="6752800"/>
            <a:ext cx="90043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B8B8B8"/>
                </a:solidFill>
                <a:latin typeface="Arial MT"/>
                <a:cs typeface="Arial MT"/>
              </a:rPr>
              <a:t>zones.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848830" y="5977955"/>
            <a:ext cx="7780655" cy="1344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">
              <a:lnSpc>
                <a:spcPct val="120200"/>
              </a:lnSpc>
              <a:spcBef>
                <a:spcPts val="100"/>
              </a:spcBef>
              <a:tabLst>
                <a:tab pos="514984" algn="l"/>
                <a:tab pos="666115" algn="l"/>
                <a:tab pos="1010285" algn="l"/>
                <a:tab pos="1394460" algn="l"/>
                <a:tab pos="1624330" algn="l"/>
                <a:tab pos="1645920" algn="l"/>
                <a:tab pos="2880360" algn="l"/>
                <a:tab pos="2902585" algn="l"/>
                <a:tab pos="3161665" algn="l"/>
                <a:tab pos="3412490" algn="l"/>
                <a:tab pos="3519804" algn="l"/>
                <a:tab pos="3771265" algn="l"/>
                <a:tab pos="4137025" algn="l"/>
                <a:tab pos="4174490" algn="l"/>
                <a:tab pos="4418330" algn="l"/>
                <a:tab pos="4676775" algn="l"/>
                <a:tab pos="4912995" algn="l"/>
                <a:tab pos="5280660" algn="l"/>
                <a:tab pos="5924550" algn="l"/>
                <a:tab pos="6161405" algn="l"/>
                <a:tab pos="6420485" algn="l"/>
                <a:tab pos="7048500" algn="l"/>
              </a:tabLst>
            </a:pPr>
            <a:r>
              <a:rPr dirty="0" sz="1800" spc="-125">
                <a:solidFill>
                  <a:srgbClr val="000F2A"/>
                </a:solidFill>
                <a:latin typeface="Arial MT"/>
                <a:cs typeface="Arial MT"/>
              </a:rPr>
              <a:t>d</a:t>
            </a:r>
            <a:r>
              <a:rPr dirty="0" sz="1800" spc="-125">
                <a:solidFill>
                  <a:srgbClr val="9997BC"/>
                </a:solidFill>
                <a:latin typeface="Arial MT"/>
                <a:cs typeface="Arial MT"/>
              </a:rPr>
              <a:t>b</a:t>
            </a:r>
            <a:r>
              <a:rPr dirty="0" sz="1800" spc="-145">
                <a:solidFill>
                  <a:srgbClr val="9997BC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8282A1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8282A1"/>
                </a:solidFill>
                <a:latin typeface="Arial MT"/>
                <a:cs typeface="Arial MT"/>
              </a:rPr>
              <a:t>	</a:t>
            </a:r>
            <a:r>
              <a:rPr dirty="0" sz="1800" spc="-140">
                <a:solidFill>
                  <a:srgbClr val="AEAEAE"/>
                </a:solidFill>
                <a:latin typeface="Arial MT"/>
                <a:cs typeface="Arial MT"/>
              </a:rPr>
              <a:t>iiJJage</a:t>
            </a:r>
            <a:r>
              <a:rPr dirty="0" sz="1800" spc="-1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7E82A8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7E82A8"/>
                </a:solidFill>
                <a:latin typeface="Arial MT"/>
                <a:cs typeface="Arial MT"/>
              </a:rPr>
              <a:t>	</a:t>
            </a:r>
            <a:r>
              <a:rPr dirty="0" sz="1800" spc="-180">
                <a:solidFill>
                  <a:srgbClr val="00001F"/>
                </a:solidFill>
                <a:latin typeface="Arial MT"/>
                <a:cs typeface="Arial MT"/>
              </a:rPr>
              <a:t>p</a:t>
            </a:r>
            <a:r>
              <a:rPr dirty="0" sz="1800" spc="-275">
                <a:solidFill>
                  <a:srgbClr val="00001F"/>
                </a:solidFill>
                <a:latin typeface="Arial MT"/>
                <a:cs typeface="Arial MT"/>
              </a:rPr>
              <a:t> </a:t>
            </a:r>
            <a:r>
              <a:rPr dirty="0" sz="1800" spc="-240">
                <a:solidFill>
                  <a:srgbClr val="0C1636"/>
                </a:solidFill>
                <a:latin typeface="Arial MT"/>
                <a:cs typeface="Arial MT"/>
              </a:rPr>
              <a:t>o</a:t>
            </a:r>
            <a:r>
              <a:rPr dirty="0" sz="1800" spc="-270">
                <a:solidFill>
                  <a:srgbClr val="0C1636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74"/>
                </a:solidFill>
                <a:latin typeface="Arial MT"/>
                <a:cs typeface="Arial MT"/>
              </a:rPr>
              <a:t>st</a:t>
            </a:r>
            <a:r>
              <a:rPr dirty="0" sz="1800" spc="140">
                <a:solidFill>
                  <a:srgbClr val="595974"/>
                </a:solidFill>
                <a:latin typeface="Arial MT"/>
                <a:cs typeface="Arial MT"/>
              </a:rPr>
              <a:t> </a:t>
            </a:r>
            <a:r>
              <a:rPr dirty="0" sz="1800" spc="-110">
                <a:solidFill>
                  <a:srgbClr val="00001A"/>
                </a:solidFill>
                <a:latin typeface="Arial MT"/>
                <a:cs typeface="Arial MT"/>
              </a:rPr>
              <a:t>gne</a:t>
            </a:r>
            <a:r>
              <a:rPr dirty="0" sz="1800" spc="-240">
                <a:solidFill>
                  <a:srgbClr val="00001A"/>
                </a:solidFill>
                <a:latin typeface="Arial MT"/>
                <a:cs typeface="Arial MT"/>
              </a:rPr>
              <a:t> </a:t>
            </a:r>
            <a:r>
              <a:rPr dirty="0" sz="1800" spc="-135">
                <a:solidFill>
                  <a:srgbClr val="07112D"/>
                </a:solidFill>
                <a:latin typeface="Arial MT"/>
                <a:cs typeface="Arial MT"/>
              </a:rPr>
              <a:t>s</a:t>
            </a:r>
            <a:r>
              <a:rPr dirty="0" sz="1800" spc="-150">
                <a:solidFill>
                  <a:srgbClr val="07112D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80839E"/>
                </a:solidFill>
                <a:latin typeface="Arial MT"/>
                <a:cs typeface="Arial MT"/>
              </a:rPr>
              <a:t>:</a:t>
            </a:r>
            <a:r>
              <a:rPr dirty="0" sz="1800" spc="-300">
                <a:solidFill>
                  <a:srgbClr val="80839E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A7AECA"/>
                </a:solidFill>
                <a:latin typeface="Arial MT"/>
                <a:cs typeface="Arial MT"/>
              </a:rPr>
              <a:t>1ñ</a:t>
            </a:r>
            <a:r>
              <a:rPr dirty="0" sz="1800">
                <a:solidFill>
                  <a:srgbClr val="A7AECA"/>
                </a:solidFill>
                <a:latin typeface="Arial MT"/>
                <a:cs typeface="Arial MT"/>
              </a:rPr>
              <a:t>		</a:t>
            </a:r>
            <a:r>
              <a:rPr dirty="0" sz="1800" spc="-25">
                <a:solidFill>
                  <a:srgbClr val="00001A"/>
                </a:solidFill>
                <a:latin typeface="Arial MT"/>
                <a:cs typeface="Arial MT"/>
              </a:rPr>
              <a:t>ne</a:t>
            </a:r>
            <a:r>
              <a:rPr dirty="0" sz="1800" spc="-25">
                <a:solidFill>
                  <a:srgbClr val="B6AAD8"/>
                </a:solidFill>
                <a:latin typeface="Arial MT"/>
                <a:cs typeface="Arial MT"/>
              </a:rPr>
              <a:t>I</a:t>
            </a:r>
            <a:r>
              <a:rPr dirty="0" sz="1800">
                <a:solidFill>
                  <a:srgbClr val="B6AAD8"/>
                </a:solidFill>
                <a:latin typeface="Arial MT"/>
                <a:cs typeface="Arial MT"/>
              </a:rPr>
              <a:t>	</a:t>
            </a:r>
            <a:r>
              <a:rPr dirty="0" sz="1800" spc="-65">
                <a:solidFill>
                  <a:srgbClr val="B6AAD8"/>
                </a:solidFill>
                <a:latin typeface="Arial MT"/>
                <a:cs typeface="Arial MT"/>
              </a:rPr>
              <a:t>onk</a:t>
            </a:r>
            <a:r>
              <a:rPr dirty="0" sz="1800" spc="-254">
                <a:solidFill>
                  <a:srgbClr val="B6AAD8"/>
                </a:solidFill>
                <a:latin typeface="Arial MT"/>
                <a:cs typeface="Arial MT"/>
              </a:rPr>
              <a:t> </a:t>
            </a:r>
            <a:r>
              <a:rPr dirty="0" sz="1800" spc="-135">
                <a:solidFill>
                  <a:srgbClr val="0A1128"/>
                </a:solidFill>
                <a:latin typeface="Arial MT"/>
                <a:cs typeface="Arial MT"/>
              </a:rPr>
              <a:t>s</a:t>
            </a:r>
            <a:r>
              <a:rPr dirty="0" sz="1800" spc="-130">
                <a:solidFill>
                  <a:srgbClr val="0A1128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7E859C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7E859C"/>
                </a:solidFill>
                <a:latin typeface="Arial MT"/>
                <a:cs typeface="Arial MT"/>
              </a:rPr>
              <a:t>		</a:t>
            </a:r>
            <a:r>
              <a:rPr dirty="0" sz="1800" spc="-50">
                <a:solidFill>
                  <a:srgbClr val="2D2F59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2D2F59"/>
                </a:solidFill>
                <a:latin typeface="Arial MT"/>
                <a:cs typeface="Arial MT"/>
              </a:rPr>
              <a:t>	</a:t>
            </a:r>
            <a:r>
              <a:rPr dirty="0" sz="1800" spc="-85">
                <a:solidFill>
                  <a:srgbClr val="00001D"/>
                </a:solidFill>
                <a:latin typeface="Arial MT"/>
                <a:cs typeface="Arial MT"/>
              </a:rPr>
              <a:t>se</a:t>
            </a:r>
            <a:r>
              <a:rPr dirty="0" sz="1800" spc="-280">
                <a:solidFill>
                  <a:srgbClr val="00001D"/>
                </a:solidFill>
                <a:latin typeface="Arial MT"/>
                <a:cs typeface="Arial MT"/>
              </a:rPr>
              <a:t> </a:t>
            </a:r>
            <a:r>
              <a:rPr dirty="0" sz="1800" spc="-170">
                <a:solidFill>
                  <a:srgbClr val="111F41"/>
                </a:solidFill>
                <a:latin typeface="Arial MT"/>
                <a:cs typeface="Arial MT"/>
              </a:rPr>
              <a:t>c</a:t>
            </a:r>
            <a:r>
              <a:rPr dirty="0" sz="1800" spc="-285">
                <a:solidFill>
                  <a:srgbClr val="111F41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11000A"/>
                </a:solidFill>
                <a:latin typeface="Arial MT"/>
                <a:cs typeface="Arial MT"/>
              </a:rPr>
              <a:t>une_z</a:t>
            </a:r>
            <a:r>
              <a:rPr dirty="0" sz="1800" spc="-145">
                <a:solidFill>
                  <a:srgbClr val="11000A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1A"/>
                </a:solidFill>
                <a:latin typeface="Arial MT"/>
                <a:cs typeface="Arial MT"/>
              </a:rPr>
              <a:t>one</a:t>
            </a:r>
            <a:r>
              <a:rPr dirty="0" sz="1800">
                <a:solidFill>
                  <a:srgbClr val="00001A"/>
                </a:solidFill>
                <a:latin typeface="Arial MT"/>
                <a:cs typeface="Arial MT"/>
              </a:rPr>
              <a:t>	</a:t>
            </a:r>
            <a:r>
              <a:rPr dirty="0" sz="1800" spc="-195">
                <a:solidFill>
                  <a:srgbClr val="000115"/>
                </a:solidFill>
                <a:latin typeface="Arial MT"/>
                <a:cs typeface="Arial MT"/>
              </a:rPr>
              <a:t>we</a:t>
            </a:r>
            <a:r>
              <a:rPr dirty="0" sz="1800" spc="-195">
                <a:solidFill>
                  <a:srgbClr val="A193B8"/>
                </a:solidFill>
                <a:latin typeface="Arial MT"/>
                <a:cs typeface="Arial MT"/>
              </a:rPr>
              <a:t>b</a:t>
            </a:r>
            <a:r>
              <a:rPr dirty="0" sz="1800" spc="-175">
                <a:solidFill>
                  <a:srgbClr val="A193B8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9397B8"/>
                </a:solidFill>
                <a:latin typeface="Arial MT"/>
                <a:cs typeface="Arial MT"/>
              </a:rPr>
              <a:t>-</a:t>
            </a:r>
            <a:r>
              <a:rPr dirty="0" sz="1800" spc="65">
                <a:solidFill>
                  <a:srgbClr val="000036"/>
                </a:solidFill>
                <a:latin typeface="Arial MT"/>
                <a:cs typeface="Arial MT"/>
              </a:rPr>
              <a:t>app</a:t>
            </a:r>
            <a:r>
              <a:rPr dirty="0" sz="1800" spc="-300">
                <a:solidFill>
                  <a:srgbClr val="000036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8282A1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8282A1"/>
                </a:solidFill>
                <a:latin typeface="Arial MT"/>
                <a:cs typeface="Arial MT"/>
              </a:rPr>
              <a:t>	</a:t>
            </a:r>
            <a:r>
              <a:rPr dirty="0" sz="1800" spc="-140">
                <a:solidFill>
                  <a:srgbClr val="AEAEAE"/>
                </a:solidFill>
                <a:latin typeface="Arial MT"/>
                <a:cs typeface="Arial MT"/>
              </a:rPr>
              <a:t>iiJJage</a:t>
            </a:r>
            <a:r>
              <a:rPr dirty="0" sz="1800" spc="-1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7E82A8"/>
                </a:solidFill>
                <a:latin typeface="Arial MT"/>
                <a:cs typeface="Arial MT"/>
              </a:rPr>
              <a:t>: </a:t>
            </a:r>
            <a:r>
              <a:rPr dirty="0" sz="1800" spc="-10">
                <a:solidFill>
                  <a:srgbClr val="B5B5B5"/>
                </a:solidFill>
                <a:latin typeface="Arial MT"/>
                <a:cs typeface="Arial MT"/>
              </a:rPr>
              <a:t>ng</a:t>
            </a:r>
            <a:r>
              <a:rPr dirty="0" sz="1800" spc="-10">
                <a:solidFill>
                  <a:srgbClr val="CDCDCD"/>
                </a:solidFill>
                <a:latin typeface="Arial MT"/>
                <a:cs typeface="Arial MT"/>
              </a:rPr>
              <a:t>inx</a:t>
            </a:r>
            <a:r>
              <a:rPr dirty="0" sz="1800">
                <a:solidFill>
                  <a:srgbClr val="CDCDCD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231A42"/>
                </a:solidFill>
                <a:latin typeface="Arial MT"/>
                <a:cs typeface="Arial MT"/>
              </a:rPr>
              <a:t>:</a:t>
            </a:r>
            <a:r>
              <a:rPr dirty="0" sz="1800" spc="-215">
                <a:solidFill>
                  <a:srgbClr val="231A42"/>
                </a:solidFill>
                <a:latin typeface="Arial MT"/>
                <a:cs typeface="Arial MT"/>
              </a:rPr>
              <a:t> </a:t>
            </a:r>
            <a:r>
              <a:rPr dirty="0" sz="1800" spc="-80">
                <a:solidFill>
                  <a:srgbClr val="050536"/>
                </a:solidFill>
                <a:latin typeface="Arial MT"/>
                <a:cs typeface="Arial MT"/>
              </a:rPr>
              <a:t>app</a:t>
            </a:r>
            <a:r>
              <a:rPr dirty="0" sz="1800" spc="-315">
                <a:solidFill>
                  <a:srgbClr val="050536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18"/>
                </a:solidFill>
                <a:latin typeface="Arial MT"/>
                <a:cs typeface="Arial MT"/>
              </a:rPr>
              <a:t>ine</a:t>
            </a:r>
            <a:r>
              <a:rPr dirty="0" sz="1800">
                <a:solidFill>
                  <a:srgbClr val="000018"/>
                </a:solidFill>
                <a:latin typeface="Arial MT"/>
                <a:cs typeface="Arial MT"/>
              </a:rPr>
              <a:t>		</a:t>
            </a:r>
            <a:r>
              <a:rPr dirty="0" sz="1800" spc="-30">
                <a:solidFill>
                  <a:srgbClr val="C1C1C1"/>
                </a:solidFill>
                <a:latin typeface="Arial MT"/>
                <a:cs typeface="Arial MT"/>
              </a:rPr>
              <a:t>netwo</a:t>
            </a:r>
            <a:r>
              <a:rPr dirty="0" sz="1800" spc="-26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B6B6B6"/>
                </a:solidFill>
                <a:latin typeface="Arial MT"/>
                <a:cs typeface="Arial MT"/>
              </a:rPr>
              <a:t>nks</a:t>
            </a:r>
            <a:r>
              <a:rPr dirty="0" sz="1800" spc="-12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858EAE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858EAE"/>
                </a:solidFill>
                <a:latin typeface="Arial MT"/>
                <a:cs typeface="Arial MT"/>
              </a:rPr>
              <a:t>		</a:t>
            </a:r>
            <a:r>
              <a:rPr dirty="0" sz="1800" spc="-385">
                <a:solidFill>
                  <a:srgbClr val="858EAE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0A5CA"/>
                </a:solidFill>
                <a:latin typeface="Arial MT"/>
                <a:cs typeface="Arial MT"/>
              </a:rPr>
              <a:t>-	</a:t>
            </a:r>
            <a:r>
              <a:rPr dirty="0" sz="1800" spc="-85">
                <a:solidFill>
                  <a:srgbClr val="00001C"/>
                </a:solidFill>
                <a:latin typeface="Arial MT"/>
                <a:cs typeface="Arial MT"/>
              </a:rPr>
              <a:t>se</a:t>
            </a:r>
            <a:r>
              <a:rPr dirty="0" sz="1800" spc="-275">
                <a:solidFill>
                  <a:srgbClr val="00001C"/>
                </a:solidFill>
                <a:latin typeface="Arial MT"/>
                <a:cs typeface="Arial MT"/>
              </a:rPr>
              <a:t> </a:t>
            </a:r>
            <a:r>
              <a:rPr dirty="0" sz="1800" spc="-170">
                <a:solidFill>
                  <a:srgbClr val="010536"/>
                </a:solidFill>
                <a:latin typeface="Arial MT"/>
                <a:cs typeface="Arial MT"/>
              </a:rPr>
              <a:t>c</a:t>
            </a:r>
            <a:r>
              <a:rPr dirty="0" sz="1800" spc="-285">
                <a:solidFill>
                  <a:srgbClr val="010536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24234B"/>
                </a:solidFill>
                <a:latin typeface="Arial MT"/>
                <a:cs typeface="Arial MT"/>
              </a:rPr>
              <a:t>u</a:t>
            </a:r>
            <a:r>
              <a:rPr dirty="0" sz="1800" spc="-50">
                <a:solidFill>
                  <a:srgbClr val="CFCFCF"/>
                </a:solidFill>
                <a:latin typeface="Arial MT"/>
                <a:cs typeface="Arial MT"/>
              </a:rPr>
              <a:t>ne_z</a:t>
            </a:r>
            <a:r>
              <a:rPr dirty="0" sz="1800" spc="-175">
                <a:solidFill>
                  <a:srgbClr val="CFCFC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18"/>
                </a:solidFill>
                <a:latin typeface="Arial MT"/>
                <a:cs typeface="Arial MT"/>
              </a:rPr>
              <a:t>one</a:t>
            </a:r>
            <a:r>
              <a:rPr dirty="0" sz="1800">
                <a:solidFill>
                  <a:srgbClr val="000018"/>
                </a:solidFill>
                <a:latin typeface="Arial MT"/>
                <a:cs typeface="Arial MT"/>
              </a:rPr>
              <a:t>	</a:t>
            </a:r>
            <a:r>
              <a:rPr dirty="0" sz="1800" spc="-50">
                <a:solidFill>
                  <a:srgbClr val="A0A5CA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A0A5CA"/>
                </a:solidFill>
                <a:latin typeface="Arial MT"/>
                <a:cs typeface="Arial MT"/>
              </a:rPr>
              <a:t>	</a:t>
            </a:r>
            <a:r>
              <a:rPr dirty="0" sz="1800" spc="-35">
                <a:solidFill>
                  <a:srgbClr val="050536"/>
                </a:solidFill>
                <a:latin typeface="Arial MT"/>
                <a:cs typeface="Arial MT"/>
              </a:rPr>
              <a:t>p</a:t>
            </a:r>
            <a:r>
              <a:rPr dirty="0" sz="1800" spc="-35">
                <a:solidFill>
                  <a:srgbClr val="62677E"/>
                </a:solidFill>
                <a:latin typeface="Arial MT"/>
                <a:cs typeface="Arial MT"/>
              </a:rPr>
              <a:t>ubl</a:t>
            </a:r>
            <a:r>
              <a:rPr dirty="0" sz="1800" spc="254">
                <a:solidFill>
                  <a:srgbClr val="62677E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B385B"/>
                </a:solidFill>
                <a:latin typeface="Arial MT"/>
                <a:cs typeface="Arial MT"/>
              </a:rPr>
              <a:t>i</a:t>
            </a:r>
            <a:r>
              <a:rPr dirty="0" sz="1800" spc="80">
                <a:solidFill>
                  <a:srgbClr val="2B385B"/>
                </a:solidFill>
                <a:latin typeface="Arial MT"/>
                <a:cs typeface="Arial MT"/>
              </a:rPr>
              <a:t> </a:t>
            </a:r>
            <a:r>
              <a:rPr dirty="0" sz="1800" spc="-35">
                <a:solidFill>
                  <a:srgbClr val="605B75"/>
                </a:solidFill>
                <a:latin typeface="Arial MT"/>
                <a:cs typeface="Arial MT"/>
              </a:rPr>
              <a:t>c_z</a:t>
            </a:r>
            <a:r>
              <a:rPr dirty="0" sz="1800" spc="-245">
                <a:solidFill>
                  <a:srgbClr val="605B75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18"/>
                </a:solidFill>
                <a:latin typeface="Arial MT"/>
                <a:cs typeface="Arial MT"/>
              </a:rPr>
              <a:t>one</a:t>
            </a:r>
            <a:r>
              <a:rPr dirty="0" sz="1800">
                <a:solidFill>
                  <a:srgbClr val="000018"/>
                </a:solidFill>
                <a:latin typeface="Arial MT"/>
                <a:cs typeface="Arial MT"/>
              </a:rPr>
              <a:t>	</a:t>
            </a:r>
            <a:r>
              <a:rPr dirty="0" sz="1800" spc="-30">
                <a:solidFill>
                  <a:srgbClr val="C1C1C1"/>
                </a:solidFill>
                <a:latin typeface="Arial MT"/>
                <a:cs typeface="Arial MT"/>
              </a:rPr>
              <a:t>netwo</a:t>
            </a:r>
            <a:r>
              <a:rPr dirty="0" sz="1800" spc="-26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B6B6B6"/>
                </a:solidFill>
                <a:latin typeface="Arial MT"/>
                <a:cs typeface="Arial MT"/>
              </a:rPr>
              <a:t>nks</a:t>
            </a:r>
            <a:r>
              <a:rPr dirty="0" sz="1800" spc="-12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858EAE"/>
                </a:solidFill>
                <a:latin typeface="Arial MT"/>
                <a:cs typeface="Arial MT"/>
              </a:rPr>
              <a:t>:</a:t>
            </a:r>
            <a:r>
              <a:rPr dirty="0" sz="1800" spc="500">
                <a:solidFill>
                  <a:srgbClr val="858EAE"/>
                </a:solidFill>
                <a:latin typeface="Arial MT"/>
                <a:cs typeface="Arial MT"/>
              </a:rPr>
              <a:t> </a:t>
            </a:r>
            <a:r>
              <a:rPr dirty="0" sz="1800" spc="-85">
                <a:solidFill>
                  <a:srgbClr val="000018"/>
                </a:solidFill>
                <a:latin typeface="Arial MT"/>
                <a:cs typeface="Arial MT"/>
              </a:rPr>
              <a:t>se</a:t>
            </a:r>
            <a:r>
              <a:rPr dirty="0" sz="1800" spc="-280">
                <a:solidFill>
                  <a:srgbClr val="000018"/>
                </a:solidFill>
                <a:latin typeface="Arial MT"/>
                <a:cs typeface="Arial MT"/>
              </a:rPr>
              <a:t> </a:t>
            </a:r>
            <a:r>
              <a:rPr dirty="0" sz="1800" spc="-170">
                <a:solidFill>
                  <a:srgbClr val="080E36"/>
                </a:solidFill>
                <a:latin typeface="Arial MT"/>
                <a:cs typeface="Arial MT"/>
              </a:rPr>
              <a:t>c</a:t>
            </a:r>
            <a:r>
              <a:rPr dirty="0" sz="1800" spc="-285">
                <a:solidFill>
                  <a:srgbClr val="080E36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28345E"/>
                </a:solidFill>
                <a:latin typeface="Arial MT"/>
                <a:cs typeface="Arial MT"/>
              </a:rPr>
              <a:t>une_z</a:t>
            </a:r>
            <a:r>
              <a:rPr dirty="0" sz="1800" spc="-150">
                <a:solidFill>
                  <a:srgbClr val="28345E"/>
                </a:solidFill>
                <a:latin typeface="Arial MT"/>
                <a:cs typeface="Arial MT"/>
              </a:rPr>
              <a:t> </a:t>
            </a:r>
            <a:r>
              <a:rPr dirty="0" sz="1800" spc="-100">
                <a:solidFill>
                  <a:srgbClr val="00001A"/>
                </a:solidFill>
                <a:latin typeface="Arial MT"/>
                <a:cs typeface="Arial MT"/>
              </a:rPr>
              <a:t>one</a:t>
            </a:r>
            <a:r>
              <a:rPr dirty="0" sz="1800" spc="-105">
                <a:solidFill>
                  <a:srgbClr val="00001A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7077A8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7077A8"/>
                </a:solidFill>
                <a:latin typeface="Arial MT"/>
                <a:cs typeface="Arial MT"/>
              </a:rPr>
              <a:t>	</a:t>
            </a:r>
            <a:r>
              <a:rPr dirty="0" sz="1800" spc="-165">
                <a:solidFill>
                  <a:srgbClr val="565972"/>
                </a:solidFill>
                <a:latin typeface="Arial MT"/>
                <a:cs typeface="Arial MT"/>
              </a:rPr>
              <a:t>żnt</a:t>
            </a:r>
            <a:r>
              <a:rPr dirty="0" sz="1800" spc="-220">
                <a:solidFill>
                  <a:srgbClr val="565972"/>
                </a:solidFill>
                <a:latin typeface="Arial MT"/>
                <a:cs typeface="Arial MT"/>
              </a:rPr>
              <a:t> </a:t>
            </a:r>
            <a:r>
              <a:rPr dirty="0" sz="1800" spc="75">
                <a:solidFill>
                  <a:srgbClr val="2F2F60"/>
                </a:solidFill>
                <a:latin typeface="Arial MT"/>
                <a:cs typeface="Arial MT"/>
              </a:rPr>
              <a:t>ennal</a:t>
            </a:r>
            <a:r>
              <a:rPr dirty="0" sz="1800" spc="-204">
                <a:solidFill>
                  <a:srgbClr val="2F2F60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6D79A3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6D79A3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5E5472"/>
                </a:solidFill>
                <a:latin typeface="Arial MT"/>
                <a:cs typeface="Arial MT"/>
              </a:rPr>
              <a:t>I</a:t>
            </a:r>
            <a:r>
              <a:rPr dirty="0" sz="1800" spc="85">
                <a:solidFill>
                  <a:srgbClr val="5E5472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1F"/>
                </a:solidFill>
                <a:latin typeface="Arial MT"/>
                <a:cs typeface="Arial MT"/>
              </a:rPr>
              <a:t>nue</a:t>
            </a:r>
            <a:r>
              <a:rPr dirty="0" sz="1800">
                <a:solidFill>
                  <a:srgbClr val="00001F"/>
                </a:solidFill>
                <a:latin typeface="Arial MT"/>
                <a:cs typeface="Arial MT"/>
              </a:rPr>
              <a:t>		</a:t>
            </a:r>
            <a:r>
              <a:rPr dirty="0" sz="1800" spc="-50">
                <a:solidFill>
                  <a:srgbClr val="000F0C"/>
                </a:solidFill>
                <a:latin typeface="Arial MT"/>
                <a:cs typeface="Arial MT"/>
              </a:rPr>
              <a:t>#</a:t>
            </a:r>
            <a:r>
              <a:rPr dirty="0" sz="1800">
                <a:solidFill>
                  <a:srgbClr val="000F0C"/>
                </a:solidFill>
                <a:latin typeface="Arial MT"/>
                <a:cs typeface="Arial MT"/>
              </a:rPr>
              <a:t>	</a:t>
            </a:r>
            <a:r>
              <a:rPr dirty="0" sz="1800" spc="-295">
                <a:solidFill>
                  <a:srgbClr val="CDCDCD"/>
                </a:solidFill>
                <a:latin typeface="Arial MT"/>
                <a:cs typeface="Arial MT"/>
              </a:rPr>
              <a:t>No</a:t>
            </a:r>
            <a:r>
              <a:rPr dirty="0" sz="1800">
                <a:solidFill>
                  <a:srgbClr val="CDCDCD"/>
                </a:solidFill>
                <a:latin typeface="Arial MT"/>
                <a:cs typeface="Arial MT"/>
              </a:rPr>
              <a:t>	</a:t>
            </a:r>
            <a:r>
              <a:rPr dirty="0" sz="1800" spc="-165">
                <a:solidFill>
                  <a:srgbClr val="565972"/>
                </a:solidFill>
                <a:latin typeface="Arial MT"/>
                <a:cs typeface="Arial MT"/>
              </a:rPr>
              <a:t>żnt</a:t>
            </a:r>
            <a:r>
              <a:rPr dirty="0" sz="1800" spc="-210">
                <a:solidFill>
                  <a:srgbClr val="565972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A0316"/>
                </a:solidFill>
                <a:latin typeface="Arial MT"/>
                <a:cs typeface="Arial MT"/>
              </a:rPr>
              <a:t>ennet</a:t>
            </a:r>
            <a:r>
              <a:rPr dirty="0" sz="1800">
                <a:solidFill>
                  <a:srgbClr val="1A0316"/>
                </a:solidFill>
                <a:latin typeface="Arial MT"/>
                <a:cs typeface="Arial MT"/>
              </a:rPr>
              <a:t>	</a:t>
            </a:r>
            <a:r>
              <a:rPr dirty="0" sz="1800" spc="-160">
                <a:solidFill>
                  <a:srgbClr val="03082D"/>
                </a:solidFill>
                <a:latin typeface="Arial MT"/>
                <a:cs typeface="Arial MT"/>
              </a:rPr>
              <a:t>a</a:t>
            </a:r>
            <a:r>
              <a:rPr dirty="0" sz="1800" spc="-310">
                <a:solidFill>
                  <a:srgbClr val="03082D"/>
                </a:solidFill>
                <a:latin typeface="Arial MT"/>
                <a:cs typeface="Arial MT"/>
              </a:rPr>
              <a:t> </a:t>
            </a:r>
            <a:r>
              <a:rPr dirty="0" sz="1800" spc="-170">
                <a:solidFill>
                  <a:srgbClr val="0E0C33"/>
                </a:solidFill>
                <a:latin typeface="Arial MT"/>
                <a:cs typeface="Arial MT"/>
              </a:rPr>
              <a:t>c</a:t>
            </a:r>
            <a:r>
              <a:rPr dirty="0" sz="1800" spc="-250">
                <a:solidFill>
                  <a:srgbClr val="0E0C33"/>
                </a:solidFill>
                <a:latin typeface="Arial MT"/>
                <a:cs typeface="Arial MT"/>
              </a:rPr>
              <a:t> </a:t>
            </a:r>
            <a:r>
              <a:rPr dirty="0" sz="1800" spc="-170">
                <a:solidFill>
                  <a:srgbClr val="080E36"/>
                </a:solidFill>
                <a:latin typeface="Arial MT"/>
                <a:cs typeface="Arial MT"/>
              </a:rPr>
              <a:t>c</a:t>
            </a:r>
            <a:r>
              <a:rPr dirty="0" sz="1800" spc="-240">
                <a:solidFill>
                  <a:srgbClr val="080E36"/>
                </a:solidFill>
                <a:latin typeface="Arial MT"/>
                <a:cs typeface="Arial MT"/>
              </a:rPr>
              <a:t> </a:t>
            </a:r>
            <a:r>
              <a:rPr dirty="0" sz="1800" spc="-229">
                <a:solidFill>
                  <a:srgbClr val="00001F"/>
                </a:solidFill>
                <a:latin typeface="Arial MT"/>
                <a:cs typeface="Arial MT"/>
              </a:rPr>
              <a:t>e</a:t>
            </a:r>
            <a:r>
              <a:rPr dirty="0" sz="1800" spc="-270">
                <a:solidFill>
                  <a:srgbClr val="00001F"/>
                </a:solidFill>
                <a:latin typeface="Arial MT"/>
                <a:cs typeface="Arial MT"/>
              </a:rPr>
              <a:t> </a:t>
            </a:r>
            <a:r>
              <a:rPr dirty="0" sz="1800" spc="-135">
                <a:solidFill>
                  <a:srgbClr val="111542"/>
                </a:solidFill>
                <a:latin typeface="Arial MT"/>
                <a:cs typeface="Arial MT"/>
              </a:rPr>
              <a:t>s</a:t>
            </a:r>
            <a:r>
              <a:rPr dirty="0" sz="1800" spc="-285">
                <a:solidFill>
                  <a:srgbClr val="111542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11163B"/>
                </a:solidFill>
                <a:latin typeface="Arial MT"/>
                <a:cs typeface="Arial MT"/>
              </a:rPr>
              <a:t>s</a:t>
            </a:r>
            <a:r>
              <a:rPr dirty="0" sz="1800">
                <a:solidFill>
                  <a:srgbClr val="11163B"/>
                </a:solidFill>
                <a:latin typeface="Arial MT"/>
                <a:cs typeface="Arial MT"/>
              </a:rPr>
              <a:t>	</a:t>
            </a:r>
            <a:r>
              <a:rPr dirty="0" sz="1800" spc="-45">
                <a:solidFill>
                  <a:srgbClr val="08051D"/>
                </a:solidFill>
                <a:latin typeface="Arial MT"/>
                <a:cs typeface="Arial MT"/>
              </a:rPr>
              <a:t>p</a:t>
            </a:r>
            <a:r>
              <a:rPr dirty="0" sz="1800" spc="-45">
                <a:solidFill>
                  <a:srgbClr val="2F2F54"/>
                </a:solidFill>
                <a:latin typeface="Arial MT"/>
                <a:cs typeface="Arial MT"/>
              </a:rPr>
              <a:t>ubl</a:t>
            </a:r>
            <a:r>
              <a:rPr dirty="0" sz="1800" spc="160">
                <a:solidFill>
                  <a:srgbClr val="2F2F54"/>
                </a:solidFill>
                <a:latin typeface="Arial MT"/>
                <a:cs typeface="Arial MT"/>
              </a:rPr>
              <a:t> </a:t>
            </a:r>
            <a:r>
              <a:rPr dirty="0" sz="1800" spc="-195">
                <a:solidFill>
                  <a:srgbClr val="2A3862"/>
                </a:solidFill>
                <a:latin typeface="Arial MT"/>
                <a:cs typeface="Arial MT"/>
              </a:rPr>
              <a:t>ż</a:t>
            </a:r>
            <a:r>
              <a:rPr dirty="0" sz="1800" spc="-195">
                <a:solidFill>
                  <a:srgbClr val="C1C1C1"/>
                </a:solidFill>
                <a:latin typeface="Arial MT"/>
                <a:cs typeface="Arial MT"/>
              </a:rPr>
              <a:t>c_z</a:t>
            </a:r>
            <a:r>
              <a:rPr dirty="0" sz="1800" spc="-24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1800" spc="-100">
                <a:solidFill>
                  <a:srgbClr val="00001A"/>
                </a:solidFill>
                <a:latin typeface="Arial MT"/>
                <a:cs typeface="Arial MT"/>
              </a:rPr>
              <a:t>one</a:t>
            </a:r>
            <a:r>
              <a:rPr dirty="0" sz="1800" spc="-130">
                <a:solidFill>
                  <a:srgbClr val="00001A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7077A8"/>
                </a:solidFill>
                <a:latin typeface="Arial MT"/>
                <a:cs typeface="Arial MT"/>
              </a:rPr>
              <a:t>: </a:t>
            </a:r>
            <a:r>
              <a:rPr dirty="0" sz="1800" spc="80">
                <a:solidFill>
                  <a:srgbClr val="030828"/>
                </a:solidFill>
                <a:latin typeface="Arial MT"/>
                <a:cs typeface="Arial MT"/>
              </a:rPr>
              <a:t>d</a:t>
            </a:r>
            <a:r>
              <a:rPr dirty="0" sz="1800" spc="80">
                <a:solidFill>
                  <a:srgbClr val="676D95"/>
                </a:solidFill>
                <a:latin typeface="Arial MT"/>
                <a:cs typeface="Arial MT"/>
              </a:rPr>
              <a:t>niven</a:t>
            </a:r>
            <a:r>
              <a:rPr dirty="0" sz="1800" spc="-240">
                <a:solidFill>
                  <a:srgbClr val="676D95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7E85A3"/>
                </a:solidFill>
                <a:latin typeface="Arial MT"/>
                <a:cs typeface="Arial MT"/>
              </a:rPr>
              <a:t>:</a:t>
            </a:r>
            <a:r>
              <a:rPr dirty="0" sz="1800">
                <a:solidFill>
                  <a:srgbClr val="7E85A3"/>
                </a:solidFill>
                <a:latin typeface="Arial MT"/>
                <a:cs typeface="Arial MT"/>
              </a:rPr>
              <a:t>	</a:t>
            </a:r>
            <a:r>
              <a:rPr dirty="0" sz="1800" spc="-254">
                <a:solidFill>
                  <a:srgbClr val="9E9EC4"/>
                </a:solidFill>
                <a:latin typeface="Arial MT"/>
                <a:cs typeface="Arial MT"/>
              </a:rPr>
              <a:t>b</a:t>
            </a:r>
            <a:r>
              <a:rPr dirty="0" sz="1800" spc="-254">
                <a:solidFill>
                  <a:srgbClr val="CFCFCF"/>
                </a:solidFill>
                <a:latin typeface="Arial MT"/>
                <a:cs typeface="Arial MT"/>
              </a:rPr>
              <a:t>nżd</a:t>
            </a:r>
            <a:r>
              <a:rPr dirty="0" sz="1800" spc="-290">
                <a:solidFill>
                  <a:srgbClr val="CFCFCF"/>
                </a:solidFill>
                <a:latin typeface="Arial MT"/>
                <a:cs typeface="Arial MT"/>
              </a:rPr>
              <a:t> </a:t>
            </a:r>
            <a:r>
              <a:rPr dirty="0" sz="1800" spc="-35">
                <a:solidFill>
                  <a:srgbClr val="080F2A"/>
                </a:solidFill>
                <a:latin typeface="Arial MT"/>
                <a:cs typeface="Arial MT"/>
              </a:rPr>
              <a:t>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5706" y="8025933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5706" y="8764130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5706" y="9219614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5706" y="9737923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F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669004" y="7962187"/>
            <a:ext cx="7519034" cy="20123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7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dirty="0" sz="230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Arial MT"/>
                <a:cs typeface="Arial MT"/>
              </a:rPr>
              <a:t>Segmentation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2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tabLst>
                <a:tab pos="1454785" algn="l"/>
              </a:tabLst>
            </a:pPr>
            <a:r>
              <a:rPr dirty="0" sz="2300" spc="-10">
                <a:solidFill>
                  <a:srgbClr val="AFAFAF"/>
                </a:solidFill>
                <a:latin typeface="Arial MT"/>
                <a:cs typeface="Arial MT"/>
              </a:rPr>
              <a:t>Configure</a:t>
            </a:r>
            <a:r>
              <a:rPr dirty="0" sz="2300">
                <a:solidFill>
                  <a:srgbClr val="AFAFAF"/>
                </a:solidFill>
                <a:latin typeface="Arial MT"/>
                <a:cs typeface="Arial MT"/>
              </a:rPr>
              <a:t>	</a:t>
            </a:r>
            <a:r>
              <a:rPr dirty="0" sz="2300">
                <a:solidFill>
                  <a:srgbClr val="A5A5A5"/>
                </a:solidFill>
                <a:latin typeface="Arial MT"/>
                <a:cs typeface="Arial MT"/>
              </a:rPr>
              <a:t>Virtual</a:t>
            </a:r>
            <a:r>
              <a:rPr dirty="0" sz="2300" spc="6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300" spc="-114">
                <a:solidFill>
                  <a:srgbClr val="8E9AAA"/>
                </a:solidFill>
                <a:latin typeface="Arial MT"/>
                <a:cs typeface="Arial MT"/>
              </a:rPr>
              <a:t>LAN</a:t>
            </a:r>
            <a:r>
              <a:rPr dirty="0" sz="2300" spc="-345">
                <a:solidFill>
                  <a:srgbClr val="8E9AA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s</a:t>
            </a:r>
            <a:r>
              <a:rPr dirty="0" sz="2300" spc="18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A8A8A8"/>
                </a:solidFill>
                <a:latin typeface="Arial MT"/>
                <a:cs typeface="Arial MT"/>
              </a:rPr>
              <a:t>(VLAN</a:t>
            </a:r>
            <a:r>
              <a:rPr dirty="0" sz="2300" spc="-32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B5B5B5"/>
                </a:solidFill>
                <a:latin typeface="Arial MT"/>
                <a:cs typeface="Arial MT"/>
              </a:rPr>
              <a:t>s)</a:t>
            </a:r>
            <a:r>
              <a:rPr dirty="0" sz="2300" spc="23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AA5B8"/>
                </a:solidFill>
                <a:latin typeface="Arial MT"/>
                <a:cs typeface="Arial MT"/>
              </a:rPr>
              <a:t>to</a:t>
            </a:r>
            <a:r>
              <a:rPr dirty="0" sz="2300" spc="185">
                <a:solidFill>
                  <a:srgbClr val="9AA5B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B3B3B3"/>
                </a:solidFill>
                <a:latin typeface="Arial MT"/>
                <a:cs typeface="Arial MT"/>
              </a:rPr>
              <a:t>strictly</a:t>
            </a:r>
            <a:r>
              <a:rPr dirty="0" sz="2300" spc="21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CACAC"/>
                </a:solidFill>
                <a:latin typeface="Arial MT"/>
                <a:cs typeface="Arial MT"/>
              </a:rPr>
              <a:t>is</a:t>
            </a:r>
            <a:r>
              <a:rPr dirty="0" sz="2300">
                <a:solidFill>
                  <a:srgbClr val="77879E"/>
                </a:solidFill>
                <a:latin typeface="Arial MT"/>
                <a:cs typeface="Arial MT"/>
              </a:rPr>
              <a:t>olate</a:t>
            </a:r>
            <a:r>
              <a:rPr dirty="0" sz="2300" spc="140">
                <a:solidFill>
                  <a:srgbClr val="77879E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5A5A5"/>
                </a:solidFill>
                <a:latin typeface="Arial MT"/>
                <a:cs typeface="Arial MT"/>
              </a:rPr>
              <a:t>traffic.</a:t>
            </a:r>
            <a:endParaRPr sz="2300">
              <a:latin typeface="Arial MT"/>
              <a:cs typeface="Arial MT"/>
            </a:endParaRPr>
          </a:p>
          <a:p>
            <a:pPr marL="17780" marR="934085" indent="1270">
              <a:lnSpc>
                <a:spcPct val="129900"/>
              </a:lnSpc>
              <a:spcBef>
                <a:spcPts val="5"/>
              </a:spcBef>
            </a:pP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Ensure</a:t>
            </a:r>
            <a:r>
              <a:rPr dirty="0" sz="2300" spc="254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7A7BC"/>
                </a:solidFill>
                <a:latin typeface="Arial MT"/>
                <a:cs typeface="Arial MT"/>
              </a:rPr>
              <a:t>no</a:t>
            </a:r>
            <a:r>
              <a:rPr dirty="0" sz="2300" spc="215">
                <a:solidFill>
                  <a:srgbClr val="97A7BC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default</a:t>
            </a:r>
            <a:r>
              <a:rPr dirty="0" sz="2300" spc="3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AFAFAF"/>
                </a:solidFill>
                <a:latin typeface="Arial MT"/>
                <a:cs typeface="Arial MT"/>
              </a:rPr>
              <a:t>"Any-</a:t>
            </a:r>
            <a:r>
              <a:rPr dirty="0" sz="2300">
                <a:solidFill>
                  <a:srgbClr val="AFAFAF"/>
                </a:solidFill>
                <a:latin typeface="Arial MT"/>
                <a:cs typeface="Arial MT"/>
              </a:rPr>
              <a:t>Any"</a:t>
            </a:r>
            <a:r>
              <a:rPr dirty="0" sz="2300" spc="38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09CAF"/>
                </a:solidFill>
                <a:latin typeface="Arial MT"/>
                <a:cs typeface="Arial MT"/>
              </a:rPr>
              <a:t>rules</a:t>
            </a:r>
            <a:r>
              <a:rPr dirty="0" sz="2300" spc="254">
                <a:solidFill>
                  <a:srgbClr val="909CA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76E79"/>
                </a:solidFill>
                <a:latin typeface="Arial MT"/>
                <a:cs typeface="Arial MT"/>
              </a:rPr>
              <a:t>exist</a:t>
            </a:r>
            <a:r>
              <a:rPr dirty="0" sz="2300" spc="275">
                <a:solidFill>
                  <a:srgbClr val="676E79"/>
                </a:solidFill>
                <a:latin typeface="Arial MT"/>
                <a:cs typeface="Arial MT"/>
              </a:rPr>
              <a:t> </a:t>
            </a:r>
            <a:r>
              <a:rPr dirty="0" sz="2300" spc="45">
                <a:solidFill>
                  <a:srgbClr val="AAAAAA"/>
                </a:solidFill>
                <a:latin typeface="Arial MT"/>
                <a:cs typeface="Arial MT"/>
              </a:rPr>
              <a:t>between </a:t>
            </a:r>
            <a:r>
              <a:rPr dirty="0" sz="2300">
                <a:solidFill>
                  <a:srgbClr val="AFAFAF"/>
                </a:solidFill>
                <a:latin typeface="Arial MT"/>
                <a:cs typeface="Arial MT"/>
              </a:rPr>
              <a:t>segment</a:t>
            </a:r>
            <a:r>
              <a:rPr dirty="0" sz="2300" spc="-3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ACACAC"/>
                </a:solidFill>
                <a:latin typeface="Arial MT"/>
                <a:cs typeface="Arial MT"/>
              </a:rPr>
              <a:t>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068030"/>
            <a:ext cx="20080605" cy="542290"/>
          </a:xfrm>
          <a:custGeom>
            <a:avLst/>
            <a:gdLst/>
            <a:ahLst/>
            <a:cxnLst/>
            <a:rect l="l" t="t" r="r" b="b"/>
            <a:pathLst>
              <a:path w="20080605" h="542290">
                <a:moveTo>
                  <a:pt x="20080541" y="541868"/>
                </a:moveTo>
                <a:lnTo>
                  <a:pt x="0" y="54186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4186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31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5">
                <a:latin typeface="Calibri"/>
                <a:cs typeface="Calibri"/>
              </a:rPr>
              <a:t>IAM</a:t>
            </a:r>
            <a:r>
              <a:rPr dirty="0" spc="-490">
                <a:latin typeface="Calibri"/>
                <a:cs typeface="Calibri"/>
              </a:rPr>
              <a:t> </a:t>
            </a:r>
            <a:r>
              <a:rPr dirty="0" spc="-280">
                <a:latin typeface="Calibri"/>
                <a:cs typeface="Calibri"/>
              </a:rPr>
              <a:t>&amp;</a:t>
            </a:r>
            <a:r>
              <a:rPr dirty="0" spc="-495">
                <a:latin typeface="Calibri"/>
                <a:cs typeface="Calibri"/>
              </a:rPr>
              <a:t> </a:t>
            </a:r>
            <a:r>
              <a:rPr dirty="0" spc="385">
                <a:latin typeface="Calibri"/>
                <a:cs typeface="Calibri"/>
              </a:rPr>
              <a:t>Access</a:t>
            </a:r>
            <a:r>
              <a:rPr dirty="0" spc="-10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Control</a:t>
            </a:r>
            <a:r>
              <a:rPr dirty="0" spc="-245">
                <a:latin typeface="Calibri"/>
                <a:cs typeface="Calibri"/>
              </a:rPr>
              <a:t> </a:t>
            </a:r>
            <a:r>
              <a:rPr dirty="0" spc="114">
                <a:latin typeface="Calibri"/>
                <a:cs typeface="Calibri"/>
              </a:rPr>
              <a:t>Policies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3376860"/>
            <a:ext cx="20088860" cy="424180"/>
            <a:chOff x="15706" y="3376860"/>
            <a:chExt cx="20088860" cy="42418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3376860"/>
              <a:ext cx="20088393" cy="42407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3376860"/>
              <a:ext cx="20088393" cy="424070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5706" y="4319240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51309" y="4239788"/>
            <a:ext cx="63246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60">
                <a:solidFill>
                  <a:srgbClr val="FFFFFF"/>
                </a:solidFill>
                <a:latin typeface="Times New Roman"/>
                <a:cs typeface="Times New Roman"/>
              </a:rPr>
              <a:t>Who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718384" y="4223427"/>
            <a:ext cx="91059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6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303506" y="4223427"/>
            <a:ext cx="59372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9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706" y="4790430"/>
            <a:ext cx="20088860" cy="283210"/>
            <a:chOff x="15706" y="4790430"/>
            <a:chExt cx="20088860" cy="283210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4790430"/>
              <a:ext cx="20088393" cy="28271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790430"/>
              <a:ext cx="20088393" cy="282713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15706" y="6251118"/>
            <a:ext cx="20088860" cy="267335"/>
            <a:chOff x="15706" y="6251118"/>
            <a:chExt cx="20088860" cy="26733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6251118"/>
              <a:ext cx="20088393" cy="26700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6251118"/>
              <a:ext cx="20088393" cy="267007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15706" y="6643776"/>
            <a:ext cx="20088860" cy="267335"/>
            <a:chOff x="15706" y="6643776"/>
            <a:chExt cx="20088860" cy="267335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6643776"/>
              <a:ext cx="20088393" cy="26700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6643776"/>
              <a:ext cx="20088393" cy="267007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15706" y="7052141"/>
            <a:ext cx="20088860" cy="267335"/>
            <a:chOff x="15706" y="7052141"/>
            <a:chExt cx="20088860" cy="267335"/>
          </a:xfrm>
        </p:grpSpPr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7052141"/>
              <a:ext cx="20088393" cy="26700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6" y="7052141"/>
              <a:ext cx="20088393" cy="267007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15706" y="7444799"/>
            <a:ext cx="20088860" cy="267335"/>
            <a:chOff x="15706" y="7444799"/>
            <a:chExt cx="20088860" cy="267335"/>
          </a:xfrm>
        </p:grpSpPr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7444799"/>
              <a:ext cx="20088393" cy="26700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706" y="7444799"/>
              <a:ext cx="20088393" cy="2670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471189"/>
            <a:ext cx="20080605" cy="668020"/>
          </a:xfrm>
          <a:custGeom>
            <a:avLst/>
            <a:gdLst/>
            <a:ahLst/>
            <a:cxnLst/>
            <a:rect l="l" t="t" r="r" b="b"/>
            <a:pathLst>
              <a:path w="20080605" h="668019">
                <a:moveTo>
                  <a:pt x="20080541" y="667518"/>
                </a:moveTo>
                <a:lnTo>
                  <a:pt x="0" y="66751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6751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15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95"/>
              </a:spcBef>
            </a:pPr>
            <a:r>
              <a:rPr dirty="0" spc="-225"/>
              <a:t>Testing</a:t>
            </a:r>
            <a:r>
              <a:rPr dirty="0" spc="-380"/>
              <a:t> </a:t>
            </a:r>
            <a:r>
              <a:rPr dirty="0" spc="-125"/>
              <a:t>Eflectiveness</a:t>
            </a:r>
            <a:r>
              <a:rPr dirty="0" spc="-180"/>
              <a:t> </a:t>
            </a:r>
            <a:r>
              <a:rPr dirty="0" spc="-310"/>
              <a:t>&amp;</a:t>
            </a:r>
            <a:r>
              <a:rPr dirty="0" spc="-800"/>
              <a:t> </a:t>
            </a:r>
            <a:r>
              <a:rPr dirty="0" spc="-145"/>
              <a:t>Results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2513012"/>
            <a:ext cx="20088860" cy="188595"/>
            <a:chOff x="15706" y="2513012"/>
            <a:chExt cx="20088860" cy="1885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2513012"/>
              <a:ext cx="20088393" cy="18847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2513012"/>
              <a:ext cx="20088393" cy="188475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5706" y="3518217"/>
            <a:ext cx="20080605" cy="746125"/>
          </a:xfrm>
          <a:custGeom>
            <a:avLst/>
            <a:gdLst/>
            <a:ahLst/>
            <a:cxnLst/>
            <a:rect l="l" t="t" r="r" b="b"/>
            <a:pathLst>
              <a:path w="20080605" h="746125">
                <a:moveTo>
                  <a:pt x="20080541" y="746050"/>
                </a:moveTo>
                <a:lnTo>
                  <a:pt x="0" y="74605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46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414028" y="3642293"/>
            <a:ext cx="276415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105">
                <a:solidFill>
                  <a:srgbClr val="FFFFFF"/>
                </a:solidFill>
                <a:latin typeface="Calibri"/>
                <a:cs typeface="Calibri"/>
              </a:rPr>
              <a:t>Phished</a:t>
            </a:r>
            <a:r>
              <a:rPr dirty="0" sz="245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50" spc="55">
                <a:solidFill>
                  <a:srgbClr val="FFFFFF"/>
                </a:solidFill>
                <a:latin typeface="Calibri"/>
                <a:cs typeface="Calibri"/>
              </a:rPr>
              <a:t>Credentials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5706" y="5057437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11143" y="5181513"/>
            <a:ext cx="192151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Insider</a:t>
            </a:r>
            <a:r>
              <a:rPr dirty="0" sz="24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FFFFFF"/>
                </a:solidFill>
                <a:latin typeface="Arial MT"/>
                <a:cs typeface="Arial MT"/>
              </a:rPr>
              <a:t>Threat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5706" y="6612363"/>
            <a:ext cx="20080605" cy="683260"/>
          </a:xfrm>
          <a:custGeom>
            <a:avLst/>
            <a:gdLst/>
            <a:ahLst/>
            <a:cxnLst/>
            <a:rect l="l" t="t" r="r" b="b"/>
            <a:pathLst>
              <a:path w="20080605" h="683259">
                <a:moveTo>
                  <a:pt x="20080541" y="683225"/>
                </a:moveTo>
                <a:lnTo>
                  <a:pt x="0" y="68322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832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416985" y="6752800"/>
            <a:ext cx="267398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FFFFFF"/>
                </a:solidFill>
                <a:latin typeface="Arial MT"/>
                <a:cs typeface="Arial MT"/>
              </a:rPr>
              <a:t>Unmanaged</a:t>
            </a:r>
            <a:r>
              <a:rPr dirty="0" sz="2300" spc="2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Arial MT"/>
                <a:cs typeface="Arial MT"/>
              </a:rPr>
              <a:t>Device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5706" y="8151584"/>
            <a:ext cx="20080605" cy="746125"/>
          </a:xfrm>
          <a:custGeom>
            <a:avLst/>
            <a:gdLst/>
            <a:ahLst/>
            <a:cxnLst/>
            <a:rect l="l" t="t" r="r" b="b"/>
            <a:pathLst>
              <a:path w="20080605" h="746125">
                <a:moveTo>
                  <a:pt x="20080541" y="746050"/>
                </a:moveTo>
                <a:lnTo>
                  <a:pt x="0" y="74605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46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416150" y="8275659"/>
            <a:ext cx="216662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5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24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Exfiltration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5706" y="9863573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F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5706" y="10319057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E18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354103" y="9697737"/>
            <a:ext cx="17433925" cy="905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298815" marR="5080" indent="-8286750">
              <a:lnSpc>
                <a:spcPct val="125499"/>
              </a:lnSpc>
              <a:spcBef>
                <a:spcPts val="95"/>
              </a:spcBef>
            </a:pPr>
            <a:r>
              <a:rPr dirty="0" sz="2300" i="1">
                <a:solidFill>
                  <a:srgbClr val="808C9C"/>
                </a:solidFill>
                <a:latin typeface="Arial"/>
                <a:cs typeface="Arial"/>
              </a:rPr>
              <a:t>“By</a:t>
            </a:r>
            <a:r>
              <a:rPr dirty="0" sz="2300" spc="120" i="1">
                <a:solidFill>
                  <a:srgbClr val="808C9C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ACACAC"/>
                </a:solidFill>
                <a:latin typeface="Arial"/>
                <a:cs typeface="Arial"/>
              </a:rPr>
              <a:t>implementing</a:t>
            </a:r>
            <a:r>
              <a:rPr dirty="0" sz="2300" spc="305" i="1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000813"/>
                </a:solidFill>
                <a:latin typeface="Arial"/>
                <a:cs typeface="Arial"/>
              </a:rPr>
              <a:t>Zero</a:t>
            </a:r>
            <a:r>
              <a:rPr dirty="0" sz="2300" spc="320" i="1">
                <a:solidFill>
                  <a:srgbClr val="000813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AAAAAA"/>
                </a:solidFill>
                <a:latin typeface="Arial"/>
                <a:cs typeface="Arial"/>
              </a:rPr>
              <a:t>Trust,</a:t>
            </a:r>
            <a:r>
              <a:rPr dirty="0" sz="2300" spc="295" i="1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93A5BA"/>
                </a:solidFill>
                <a:latin typeface="Arial"/>
                <a:cs typeface="Arial"/>
              </a:rPr>
              <a:t>we</a:t>
            </a:r>
            <a:r>
              <a:rPr dirty="0" sz="2300" spc="-35" i="1">
                <a:solidFill>
                  <a:srgbClr val="93A5BA"/>
                </a:solidFill>
                <a:latin typeface="Arial"/>
                <a:cs typeface="Arial"/>
              </a:rPr>
              <a:t> </a:t>
            </a:r>
            <a:r>
              <a:rPr dirty="0" sz="2300" spc="-10" i="1">
                <a:solidFill>
                  <a:srgbClr val="ACACAC"/>
                </a:solidFill>
                <a:latin typeface="Arial"/>
                <a:cs typeface="Arial"/>
              </a:rPr>
              <a:t>mo</a:t>
            </a:r>
            <a:r>
              <a:rPr dirty="0" sz="2300" spc="-415" i="1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A5A5A5"/>
                </a:solidFill>
                <a:latin typeface="Arial"/>
                <a:cs typeface="Arial"/>
              </a:rPr>
              <a:t>ved</a:t>
            </a:r>
            <a:r>
              <a:rPr dirty="0" sz="2300" spc="170" i="1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2300" spc="55" i="1">
                <a:solidFill>
                  <a:srgbClr val="ACACAC"/>
                </a:solidFill>
                <a:latin typeface="Arial"/>
                <a:cs typeface="Arial"/>
              </a:rPr>
              <a:t>from</a:t>
            </a:r>
            <a:r>
              <a:rPr dirty="0" sz="2300" spc="110" i="1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9099A8"/>
                </a:solidFill>
                <a:latin typeface="Arial"/>
                <a:cs typeface="Arial"/>
              </a:rPr>
              <a:t>a</a:t>
            </a:r>
            <a:r>
              <a:rPr dirty="0" sz="2300" spc="40" i="1">
                <a:solidFill>
                  <a:srgbClr val="9099A8"/>
                </a:solidFill>
                <a:latin typeface="Arial"/>
                <a:cs typeface="Arial"/>
              </a:rPr>
              <a:t> </a:t>
            </a:r>
            <a:r>
              <a:rPr dirty="0" sz="2300" spc="-40" i="1">
                <a:solidFill>
                  <a:srgbClr val="030E23"/>
                </a:solidFill>
                <a:latin typeface="Arial"/>
                <a:cs typeface="Arial"/>
              </a:rPr>
              <a:t>s</a:t>
            </a:r>
            <a:r>
              <a:rPr dirty="0" sz="2300" spc="-40" i="1">
                <a:solidFill>
                  <a:srgbClr val="3F445D"/>
                </a:solidFill>
                <a:latin typeface="Arial"/>
                <a:cs typeface="Arial"/>
              </a:rPr>
              <a:t>tatiC</a:t>
            </a:r>
            <a:r>
              <a:rPr dirty="0" sz="2300" spc="210" i="1">
                <a:solidFill>
                  <a:srgbClr val="3F445D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A5A5A5"/>
                </a:solidFill>
                <a:latin typeface="Arial"/>
                <a:cs typeface="Arial"/>
              </a:rPr>
              <a:t>perimeter</a:t>
            </a:r>
            <a:r>
              <a:rPr dirty="0" sz="2300" spc="330" i="1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000518"/>
                </a:solidFill>
                <a:latin typeface="Arial"/>
                <a:cs typeface="Arial"/>
              </a:rPr>
              <a:t>to</a:t>
            </a:r>
            <a:r>
              <a:rPr dirty="0" sz="2300" spc="95" i="1">
                <a:solidFill>
                  <a:srgbClr val="000518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A8A8A8"/>
                </a:solidFill>
                <a:latin typeface="Arial"/>
                <a:cs typeface="Arial"/>
              </a:rPr>
              <a:t>dynamic,</a:t>
            </a:r>
            <a:r>
              <a:rPr dirty="0" sz="2300" spc="295" i="1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A8A8A8"/>
                </a:solidFill>
                <a:latin typeface="Arial"/>
                <a:cs typeface="Arial"/>
              </a:rPr>
              <a:t>identity-based</a:t>
            </a:r>
            <a:r>
              <a:rPr dirty="0" sz="2300" spc="55" i="1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95A7BA"/>
                </a:solidFill>
                <a:latin typeface="Arial"/>
                <a:cs typeface="Arial"/>
              </a:rPr>
              <a:t>security,</a:t>
            </a:r>
            <a:r>
              <a:rPr dirty="0" sz="2300" spc="220" i="1">
                <a:solidFill>
                  <a:srgbClr val="95A7BA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A8A8A8"/>
                </a:solidFill>
                <a:latin typeface="Arial"/>
                <a:cs typeface="Arial"/>
              </a:rPr>
              <a:t>reducing</a:t>
            </a:r>
            <a:r>
              <a:rPr dirty="0" sz="2300" spc="254" i="1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B5B5B5"/>
                </a:solidFill>
                <a:latin typeface="Arial"/>
                <a:cs typeface="Arial"/>
              </a:rPr>
              <a:t>the</a:t>
            </a:r>
            <a:r>
              <a:rPr dirty="0" sz="2300" spc="-60" i="1">
                <a:solidFill>
                  <a:srgbClr val="B5B5B5"/>
                </a:solidFill>
                <a:latin typeface="Arial"/>
                <a:cs typeface="Arial"/>
              </a:rPr>
              <a:t> </a:t>
            </a:r>
            <a:r>
              <a:rPr dirty="0" sz="2300" spc="-35" i="1">
                <a:solidFill>
                  <a:srgbClr val="4F5667"/>
                </a:solidFill>
                <a:latin typeface="Arial"/>
                <a:cs typeface="Arial"/>
              </a:rPr>
              <a:t>attaCk</a:t>
            </a:r>
            <a:r>
              <a:rPr dirty="0" sz="2300" spc="254" i="1">
                <a:solidFill>
                  <a:srgbClr val="4F5667"/>
                </a:solidFill>
                <a:latin typeface="Arial"/>
                <a:cs typeface="Arial"/>
              </a:rPr>
              <a:t> </a:t>
            </a:r>
            <a:r>
              <a:rPr dirty="0" sz="2300" spc="45" i="1">
                <a:solidFill>
                  <a:srgbClr val="ACACAC"/>
                </a:solidFill>
                <a:latin typeface="Arial"/>
                <a:cs typeface="Arial"/>
              </a:rPr>
              <a:t>surface</a:t>
            </a:r>
            <a:r>
              <a:rPr dirty="0" sz="2300" spc="65" i="1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2300" spc="-25" i="1">
                <a:solidFill>
                  <a:srgbClr val="A1A1A1"/>
                </a:solidFill>
                <a:latin typeface="Arial"/>
                <a:cs typeface="Arial"/>
              </a:rPr>
              <a:t>by </a:t>
            </a:r>
            <a:r>
              <a:rPr dirty="0" sz="2300" spc="70" i="1">
                <a:solidFill>
                  <a:srgbClr val="8590A5"/>
                </a:solidFill>
                <a:latin typeface="Arial"/>
                <a:cs typeface="Arial"/>
              </a:rPr>
              <a:t>80</a:t>
            </a:r>
            <a:r>
              <a:rPr dirty="0" sz="2300" spc="-425" i="1">
                <a:solidFill>
                  <a:srgbClr val="8590A5"/>
                </a:solidFill>
                <a:latin typeface="Arial"/>
                <a:cs typeface="Arial"/>
              </a:rPr>
              <a:t> </a:t>
            </a:r>
            <a:r>
              <a:rPr dirty="0" sz="2300" spc="-90" i="1">
                <a:solidFill>
                  <a:srgbClr val="9AA3B5"/>
                </a:solidFill>
                <a:latin typeface="Arial"/>
                <a:cs typeface="Arial"/>
              </a:rPr>
              <a:t>%.</a:t>
            </a:r>
            <a:r>
              <a:rPr dirty="0" sz="2300" spc="-409" i="1">
                <a:solidFill>
                  <a:srgbClr val="9AA3B5"/>
                </a:solidFill>
                <a:latin typeface="Arial"/>
                <a:cs typeface="Arial"/>
              </a:rPr>
              <a:t> </a:t>
            </a:r>
            <a:r>
              <a:rPr dirty="0" sz="2300" spc="-50" i="1">
                <a:solidFill>
                  <a:srgbClr val="7B8AA5"/>
                </a:solidFill>
                <a:latin typeface="Arial"/>
                <a:cs typeface="Arial"/>
              </a:rPr>
              <a:t>“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2025-12-04T18:32:54Z</dcterms:created>
  <dcterms:modified xsi:type="dcterms:W3CDTF">2025-12-04T18:32:54Z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2025-12-04T00:00:00Z</vt:filetime>
  </property>
</Properties>
</file>